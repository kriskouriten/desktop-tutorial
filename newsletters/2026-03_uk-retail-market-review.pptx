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0" y="2560320"/>
            <a:ext cx="12191695" cy="2377440"/>
          </a:xfrm>
          <a:prstGeom prst="rect">
            <a:avLst/>
          </a:prstGeom>
          <a:solidFill>
            <a:srgbClr val="142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515600" cy="914400"/>
          </a:xfrm>
          <a:prstGeom prst="rect">
            <a:avLst/>
          </a:prstGeom>
          <a:noFill/>
        </p:spPr>
        <p:txBody>
          <a:bodyPr wrap="square">
            <a:spAutoFit/>
          </a:bodyPr>
          <a:lstStyle/>
          <a:p>
            <a:pPr algn="ctr">
              <a:defRPr sz="4400" b="1">
                <a:solidFill>
                  <a:srgbClr val="FFFFFF"/>
                </a:solidFill>
                <a:latin typeface="Calibri"/>
              </a:defRPr>
            </a:pPr>
            <a:r>
              <a:t>UK Retail Market</a:t>
            </a:r>
          </a:p>
        </p:txBody>
      </p:sp>
      <p:sp>
        <p:nvSpPr>
          <p:cNvPr id="4" name="TextBox 3"/>
          <p:cNvSpPr txBox="1"/>
          <p:nvPr/>
        </p:nvSpPr>
        <p:spPr>
          <a:xfrm>
            <a:off x="731520" y="3474720"/>
            <a:ext cx="10515600" cy="640080"/>
          </a:xfrm>
          <a:prstGeom prst="rect">
            <a:avLst/>
          </a:prstGeom>
          <a:noFill/>
        </p:spPr>
        <p:txBody>
          <a:bodyPr wrap="square">
            <a:spAutoFit/>
          </a:bodyPr>
          <a:lstStyle/>
          <a:p>
            <a:pPr algn="ctr">
              <a:defRPr sz="3200" b="0">
                <a:solidFill>
                  <a:srgbClr val="D6EAF8"/>
                </a:solidFill>
                <a:latin typeface="Calibri"/>
              </a:defRPr>
            </a:pPr>
            <a:r>
              <a:t>Monthly Financial Newsletter</a:t>
            </a:r>
          </a:p>
        </p:txBody>
      </p:sp>
      <p:sp>
        <p:nvSpPr>
          <p:cNvPr id="5" name="TextBox 4"/>
          <p:cNvSpPr txBox="1"/>
          <p:nvPr/>
        </p:nvSpPr>
        <p:spPr>
          <a:xfrm>
            <a:off x="731520" y="4206240"/>
            <a:ext cx="10515600" cy="457200"/>
          </a:xfrm>
          <a:prstGeom prst="rect">
            <a:avLst/>
          </a:prstGeom>
          <a:noFill/>
        </p:spPr>
        <p:txBody>
          <a:bodyPr wrap="square">
            <a:spAutoFit/>
          </a:bodyPr>
          <a:lstStyle/>
          <a:p>
            <a:pPr algn="ctr">
              <a:defRPr sz="2000" b="0">
                <a:solidFill>
                  <a:srgbClr val="7F8C8D"/>
                </a:solidFill>
                <a:latin typeface="Calibri"/>
              </a:defRPr>
            </a:pPr>
            <a:r>
              <a:t>March 2026 Issue</a:t>
            </a:r>
          </a:p>
        </p:txBody>
      </p:sp>
      <p:sp>
        <p:nvSpPr>
          <p:cNvPr id="6" name="Rectangle 5"/>
          <p:cNvSpPr/>
          <p:nvPr/>
        </p:nvSpPr>
        <p:spPr>
          <a:xfrm>
            <a:off x="5029200" y="2468880"/>
            <a:ext cx="2103120"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943600"/>
            <a:ext cx="10515600" cy="457200"/>
          </a:xfrm>
          <a:prstGeom prst="rect">
            <a:avLst/>
          </a:prstGeom>
          <a:noFill/>
        </p:spPr>
        <p:txBody>
          <a:bodyPr wrap="square">
            <a:spAutoFit/>
          </a:bodyPr>
          <a:lstStyle/>
          <a:p>
            <a:pPr algn="ctr">
              <a:defRPr sz="1200" b="0">
                <a:solidFill>
                  <a:srgbClr val="7F8C8D"/>
                </a:solidFill>
                <a:latin typeface="Calibri"/>
              </a:defRPr>
            </a:pPr>
            <a:r>
              <a:t>Confidential — For Informational Purposes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Executive Summary</a:t>
            </a:r>
          </a:p>
        </p:txBody>
      </p:sp>
      <p:sp>
        <p:nvSpPr>
          <p:cNvPr id="5" name="TextBox 4"/>
          <p:cNvSpPr txBox="1"/>
          <p:nvPr/>
        </p:nvSpPr>
        <p:spPr>
          <a:xfrm>
            <a:off x="914400" y="1463040"/>
            <a:ext cx="10332720" cy="457200"/>
          </a:xfrm>
          <a:prstGeom prst="rect">
            <a:avLst/>
          </a:prstGeom>
          <a:noFill/>
        </p:spPr>
        <p:txBody>
          <a:bodyPr wrap="square">
            <a:spAutoFit/>
          </a:bodyPr>
          <a:lstStyle/>
          <a:p>
            <a:pPr algn="l">
              <a:defRPr sz="1600" b="0">
                <a:solidFill>
                  <a:srgbClr val="2C3E50"/>
                </a:solidFill>
                <a:latin typeface="Calibri"/>
              </a:defRPr>
            </a:pPr>
            <a:r>
              <a:t>•  This monthly newsletter provides comprehensive financial analysis of the UK retail sector.</a:t>
            </a:r>
          </a:p>
        </p:txBody>
      </p:sp>
      <p:sp>
        <p:nvSpPr>
          <p:cNvPr id="6" name="TextBox 5"/>
          <p:cNvSpPr txBox="1"/>
          <p:nvPr/>
        </p:nvSpPr>
        <p:spPr>
          <a:xfrm>
            <a:off x="914400" y="1965960"/>
            <a:ext cx="10332720" cy="457200"/>
          </a:xfrm>
          <a:prstGeom prst="rect">
            <a:avLst/>
          </a:prstGeom>
          <a:noFill/>
        </p:spPr>
        <p:txBody>
          <a:bodyPr wrap="square">
            <a:spAutoFit/>
          </a:bodyPr>
          <a:lstStyle/>
          <a:p>
            <a:pPr algn="l">
              <a:defRPr sz="1600" b="0">
                <a:solidFill>
                  <a:srgbClr val="2C3E50"/>
                </a:solidFill>
                <a:latin typeface="Calibri"/>
              </a:defRPr>
            </a:pPr>
            <a:r>
              <a:t>•  Coverage spans FTSE-listed grocery, fashion, home and specialty retailers.</a:t>
            </a:r>
          </a:p>
        </p:txBody>
      </p:sp>
      <p:sp>
        <p:nvSpPr>
          <p:cNvPr id="7" name="TextBox 6"/>
          <p:cNvSpPr txBox="1"/>
          <p:nvPr/>
        </p:nvSpPr>
        <p:spPr>
          <a:xfrm>
            <a:off x="914400" y="2468880"/>
            <a:ext cx="10332720" cy="457200"/>
          </a:xfrm>
          <a:prstGeom prst="rect">
            <a:avLst/>
          </a:prstGeom>
          <a:noFill/>
        </p:spPr>
        <p:txBody>
          <a:bodyPr wrap="square">
            <a:spAutoFit/>
          </a:bodyPr>
          <a:lstStyle/>
          <a:p>
            <a:pPr algn="l">
              <a:defRPr sz="1600" b="0">
                <a:solidFill>
                  <a:srgbClr val="2C3E50"/>
                </a:solidFill>
                <a:latin typeface="Calibri"/>
              </a:defRPr>
            </a:pPr>
            <a:r>
              <a:t>•  Key data includes ONS retail sales, BRC-KPMG monitor, consumer confidence, and macroeconomic indicators.</a:t>
            </a:r>
          </a:p>
        </p:txBody>
      </p:sp>
      <p:sp>
        <p:nvSpPr>
          <p:cNvPr id="8" name="TextBox 7"/>
          <p:cNvSpPr txBox="1"/>
          <p:nvPr/>
        </p:nvSpPr>
        <p:spPr>
          <a:xfrm>
            <a:off x="914400" y="2971800"/>
            <a:ext cx="10332720" cy="457200"/>
          </a:xfrm>
          <a:prstGeom prst="rect">
            <a:avLst/>
          </a:prstGeom>
          <a:noFill/>
        </p:spPr>
        <p:txBody>
          <a:bodyPr wrap="square">
            <a:spAutoFit/>
          </a:bodyPr>
          <a:lstStyle/>
          <a:p>
            <a:pPr algn="l">
              <a:defRPr sz="1600" b="0">
                <a:solidFill>
                  <a:srgbClr val="2C3E50"/>
                </a:solidFill>
                <a:latin typeface="Calibri"/>
              </a:defRPr>
            </a:pPr>
            <a:r>
              <a:t>•  Designed for investors, analysts, and industry professionals tracking UK retail performance.</a:t>
            </a:r>
          </a:p>
        </p:txBody>
      </p:sp>
      <p:sp>
        <p:nvSpPr>
          <p:cNvPr id="9" name="Rectangle 8"/>
          <p:cNvSpPr/>
          <p:nvPr/>
        </p:nvSpPr>
        <p:spPr>
          <a:xfrm>
            <a:off x="914400" y="4206240"/>
            <a:ext cx="2377440" cy="18288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343400"/>
            <a:ext cx="2377440" cy="731520"/>
          </a:xfrm>
          <a:prstGeom prst="rect">
            <a:avLst/>
          </a:prstGeom>
          <a:noFill/>
        </p:spPr>
        <p:txBody>
          <a:bodyPr wrap="square">
            <a:spAutoFit/>
          </a:bodyPr>
          <a:lstStyle/>
          <a:p>
            <a:pPr algn="ctr">
              <a:defRPr sz="3600" b="1">
                <a:solidFill>
                  <a:srgbClr val="142D5E"/>
                </a:solidFill>
                <a:latin typeface="Calibri"/>
              </a:defRPr>
            </a:pPr>
            <a:r>
              <a:t>13</a:t>
            </a:r>
          </a:p>
        </p:txBody>
      </p:sp>
      <p:sp>
        <p:nvSpPr>
          <p:cNvPr id="11" name="TextBox 10"/>
          <p:cNvSpPr txBox="1"/>
          <p:nvPr/>
        </p:nvSpPr>
        <p:spPr>
          <a:xfrm>
            <a:off x="914400" y="5029200"/>
            <a:ext cx="2377440" cy="640080"/>
          </a:xfrm>
          <a:prstGeom prst="rect">
            <a:avLst/>
          </a:prstGeom>
          <a:noFill/>
        </p:spPr>
        <p:txBody>
          <a:bodyPr wrap="square">
            <a:spAutoFit/>
          </a:bodyPr>
          <a:lstStyle/>
          <a:p>
            <a:pPr algn="ctr">
              <a:defRPr sz="1300" b="0">
                <a:solidFill>
                  <a:srgbClr val="2C3E50"/>
                </a:solidFill>
                <a:latin typeface="Calibri"/>
              </a:defRPr>
            </a:pPr>
            <a:r>
              <a:t>Listed Retailers</a:t>
            </a:r>
            <a:br/>
            <a:r>
              <a:t>Tracked</a:t>
            </a:r>
          </a:p>
        </p:txBody>
      </p:sp>
      <p:sp>
        <p:nvSpPr>
          <p:cNvPr id="12" name="Rectangle 11"/>
          <p:cNvSpPr/>
          <p:nvPr/>
        </p:nvSpPr>
        <p:spPr>
          <a:xfrm>
            <a:off x="3611880" y="4206240"/>
            <a:ext cx="2377440" cy="18288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4343400"/>
            <a:ext cx="2377440" cy="731520"/>
          </a:xfrm>
          <a:prstGeom prst="rect">
            <a:avLst/>
          </a:prstGeom>
          <a:noFill/>
        </p:spPr>
        <p:txBody>
          <a:bodyPr wrap="square">
            <a:spAutoFit/>
          </a:bodyPr>
          <a:lstStyle/>
          <a:p>
            <a:pPr algn="ctr">
              <a:defRPr sz="3600" b="1">
                <a:solidFill>
                  <a:srgbClr val="142D5E"/>
                </a:solidFill>
                <a:latin typeface="Calibri"/>
              </a:defRPr>
            </a:pPr>
            <a:r>
              <a:t>3</a:t>
            </a:r>
          </a:p>
        </p:txBody>
      </p:sp>
      <p:sp>
        <p:nvSpPr>
          <p:cNvPr id="14" name="TextBox 13"/>
          <p:cNvSpPr txBox="1"/>
          <p:nvPr/>
        </p:nvSpPr>
        <p:spPr>
          <a:xfrm>
            <a:off x="3611880" y="5029200"/>
            <a:ext cx="2377440" cy="640080"/>
          </a:xfrm>
          <a:prstGeom prst="rect">
            <a:avLst/>
          </a:prstGeom>
          <a:noFill/>
        </p:spPr>
        <p:txBody>
          <a:bodyPr wrap="square">
            <a:spAutoFit/>
          </a:bodyPr>
          <a:lstStyle/>
          <a:p>
            <a:pPr algn="ctr">
              <a:defRPr sz="1300" b="0">
                <a:solidFill>
                  <a:srgbClr val="2C3E50"/>
                </a:solidFill>
                <a:latin typeface="Calibri"/>
              </a:defRPr>
            </a:pPr>
            <a:r>
              <a:t>Retail Sectors</a:t>
            </a:r>
            <a:br/>
            <a:r>
              <a:t>Covered</a:t>
            </a:r>
          </a:p>
        </p:txBody>
      </p:sp>
      <p:sp>
        <p:nvSpPr>
          <p:cNvPr id="15" name="Rectangle 14"/>
          <p:cNvSpPr/>
          <p:nvPr/>
        </p:nvSpPr>
        <p:spPr>
          <a:xfrm>
            <a:off x="6309360" y="4206240"/>
            <a:ext cx="2377440" cy="18288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343400"/>
            <a:ext cx="2377440" cy="731520"/>
          </a:xfrm>
          <a:prstGeom prst="rect">
            <a:avLst/>
          </a:prstGeom>
          <a:noFill/>
        </p:spPr>
        <p:txBody>
          <a:bodyPr wrap="square">
            <a:spAutoFit/>
          </a:bodyPr>
          <a:lstStyle/>
          <a:p>
            <a:pPr algn="ctr">
              <a:defRPr sz="3600" b="1">
                <a:solidFill>
                  <a:srgbClr val="142D5E"/>
                </a:solidFill>
                <a:latin typeface="Calibri"/>
              </a:defRPr>
            </a:pPr>
            <a:r>
              <a:t>6</a:t>
            </a:r>
          </a:p>
        </p:txBody>
      </p:sp>
      <p:sp>
        <p:nvSpPr>
          <p:cNvPr id="17" name="TextBox 16"/>
          <p:cNvSpPr txBox="1"/>
          <p:nvPr/>
        </p:nvSpPr>
        <p:spPr>
          <a:xfrm>
            <a:off x="6309360" y="5029200"/>
            <a:ext cx="2377440" cy="640080"/>
          </a:xfrm>
          <a:prstGeom prst="rect">
            <a:avLst/>
          </a:prstGeom>
          <a:noFill/>
        </p:spPr>
        <p:txBody>
          <a:bodyPr wrap="square">
            <a:spAutoFit/>
          </a:bodyPr>
          <a:lstStyle/>
          <a:p>
            <a:pPr algn="ctr">
              <a:defRPr sz="1300" b="0">
                <a:solidFill>
                  <a:srgbClr val="2C3E50"/>
                </a:solidFill>
                <a:latin typeface="Calibri"/>
              </a:defRPr>
            </a:pPr>
            <a:r>
              <a:t>Macro Indicators</a:t>
            </a:r>
            <a:br/>
            <a:r>
              <a:t>Monitored</a:t>
            </a:r>
          </a:p>
        </p:txBody>
      </p:sp>
      <p:sp>
        <p:nvSpPr>
          <p:cNvPr id="18" name="Rectangle 17"/>
          <p:cNvSpPr/>
          <p:nvPr/>
        </p:nvSpPr>
        <p:spPr>
          <a:xfrm>
            <a:off x="9006840" y="4206240"/>
            <a:ext cx="2377440" cy="182880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4343400"/>
            <a:ext cx="2377440" cy="731520"/>
          </a:xfrm>
          <a:prstGeom prst="rect">
            <a:avLst/>
          </a:prstGeom>
          <a:noFill/>
        </p:spPr>
        <p:txBody>
          <a:bodyPr wrap="square">
            <a:spAutoFit/>
          </a:bodyPr>
          <a:lstStyle/>
          <a:p>
            <a:pPr algn="ctr">
              <a:defRPr sz="3600" b="1">
                <a:solidFill>
                  <a:srgbClr val="142D5E"/>
                </a:solidFill>
                <a:latin typeface="Calibri"/>
              </a:defRPr>
            </a:pPr>
            <a:r>
              <a:t>Monthly</a:t>
            </a:r>
          </a:p>
        </p:txBody>
      </p:sp>
      <p:sp>
        <p:nvSpPr>
          <p:cNvPr id="20" name="TextBox 19"/>
          <p:cNvSpPr txBox="1"/>
          <p:nvPr/>
        </p:nvSpPr>
        <p:spPr>
          <a:xfrm>
            <a:off x="9006840" y="5029200"/>
            <a:ext cx="2377440" cy="640080"/>
          </a:xfrm>
          <a:prstGeom prst="rect">
            <a:avLst/>
          </a:prstGeom>
          <a:noFill/>
        </p:spPr>
        <p:txBody>
          <a:bodyPr wrap="square">
            <a:spAutoFit/>
          </a:bodyPr>
          <a:lstStyle/>
          <a:p>
            <a:pPr algn="ctr">
              <a:defRPr sz="1300" b="0">
                <a:solidFill>
                  <a:srgbClr val="2C3E50"/>
                </a:solidFill>
                <a:latin typeface="Calibri"/>
              </a:defRPr>
            </a:pPr>
            <a:r>
              <a:t>Publication</a:t>
            </a:r>
            <a:br/>
            <a:r>
              <a:t>Frequency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1. Market Overview — FTSE Retail Index Performance</a:t>
            </a:r>
          </a:p>
        </p:txBody>
      </p:sp>
      <p:graphicFrame>
        <p:nvGraphicFramePr>
          <p:cNvPr id="5" name="Table 4"/>
          <p:cNvGraphicFramePr>
            <a:graphicFrameLocks noGrp="1"/>
          </p:cNvGraphicFramePr>
          <p:nvPr/>
        </p:nvGraphicFramePr>
        <p:xfrm>
          <a:off x="731520" y="1463040"/>
          <a:ext cx="10698480" cy="2057400"/>
        </p:xfrm>
        <a:graphic>
          <a:graphicData uri="http://schemas.openxmlformats.org/drawingml/2006/table">
            <a:tbl>
              <a:tblPr firstRow="1" bandRow="1">
                <a:tableStyleId>{5C22544A-7EE6-4342-B048-85BDC9FD1C3A}</a:tableStyleId>
              </a:tblPr>
              <a:tblGrid>
                <a:gridCol w="4114800"/>
                <a:gridCol w="2194560"/>
                <a:gridCol w="2194560"/>
                <a:gridCol w="2194560"/>
              </a:tblGrid>
              <a:tr h="411480">
                <a:tc>
                  <a:txBody>
                    <a:bodyPr/>
                    <a:lstStyle/>
                    <a:p>
                      <a:pPr algn="ctr">
                        <a:defRPr sz="1100" b="1">
                          <a:solidFill>
                            <a:srgbClr val="FFFFFF"/>
                          </a:solidFill>
                          <a:latin typeface="Calibri"/>
                        </a:defRPr>
                      </a:pPr>
                      <a:r>
                        <a:t>Metric</a:t>
                      </a:r>
                    </a:p>
                  </a:txBody>
                  <a:tcPr anchor="ctr">
                    <a:solidFill>
                      <a:srgbClr val="142D5E"/>
                    </a:solidFill>
                  </a:tcPr>
                </a:tc>
                <a:tc>
                  <a:txBody>
                    <a:bodyPr/>
                    <a:lstStyle/>
                    <a:p>
                      <a:pPr algn="ctr">
                        <a:defRPr sz="1100" b="1">
                          <a:solidFill>
                            <a:srgbClr val="FFFFFF"/>
                          </a:solidFill>
                          <a:latin typeface="Calibri"/>
                        </a:defRPr>
                      </a:pPr>
                      <a:r>
                        <a:t>Current</a:t>
                      </a:r>
                    </a:p>
                  </a:txBody>
                  <a:tcPr anchor="ctr">
                    <a:solidFill>
                      <a:srgbClr val="142D5E"/>
                    </a:solidFill>
                  </a:tcPr>
                </a:tc>
                <a:tc>
                  <a:txBody>
                    <a:bodyPr/>
                    <a:lstStyle/>
                    <a:p>
                      <a:pPr algn="ctr">
                        <a:defRPr sz="1100" b="1">
                          <a:solidFill>
                            <a:srgbClr val="FFFFFF"/>
                          </a:solidFill>
                          <a:latin typeface="Calibri"/>
                        </a:defRPr>
                      </a:pPr>
                      <a:r>
                        <a:t>Previous Month</a:t>
                      </a:r>
                    </a:p>
                  </a:txBody>
                  <a:tcPr anchor="ctr">
                    <a:solidFill>
                      <a:srgbClr val="142D5E"/>
                    </a:solidFill>
                  </a:tcPr>
                </a:tc>
                <a:tc>
                  <a:txBody>
                    <a:bodyPr/>
                    <a:lstStyle/>
                    <a:p>
                      <a:pPr algn="ctr">
                        <a:defRPr sz="1100" b="1">
                          <a:solidFill>
                            <a:srgbClr val="FFFFFF"/>
                          </a:solidFill>
                          <a:latin typeface="Calibri"/>
                        </a:defRPr>
                      </a:pPr>
                      <a:r>
                        <a:t>YoY Change</a:t>
                      </a:r>
                    </a:p>
                  </a:txBody>
                  <a:tcPr anchor="ctr">
                    <a:solidFill>
                      <a:srgbClr val="142D5E"/>
                    </a:solidFill>
                  </a:tcPr>
                </a:tc>
              </a:tr>
              <a:tr h="411480">
                <a:tc>
                  <a:txBody>
                    <a:bodyPr/>
                    <a:lstStyle/>
                    <a:p>
                      <a:pPr algn="l">
                        <a:defRPr sz="1100">
                          <a:solidFill>
                            <a:srgbClr val="2C3E50"/>
                          </a:solidFill>
                          <a:latin typeface="Calibri"/>
                        </a:defRPr>
                      </a:pPr>
                      <a:r>
                        <a:t>FTSE 350 General Retailers</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FTSE 350 Food &amp; Drug Retailers</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Average Sector P/E Ratio</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Average Dividend Yield</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bl>
          </a:graphicData>
        </a:graphic>
      </p:graphicFrame>
      <p:sp>
        <p:nvSpPr>
          <p:cNvPr id="6" name="TextBox 5"/>
          <p:cNvSpPr txBox="1"/>
          <p:nvPr/>
        </p:nvSpPr>
        <p:spPr>
          <a:xfrm>
            <a:off x="731520" y="4023360"/>
            <a:ext cx="10515600" cy="365760"/>
          </a:xfrm>
          <a:prstGeom prst="rect">
            <a:avLst/>
          </a:prstGeom>
          <a:noFill/>
        </p:spPr>
        <p:txBody>
          <a:bodyPr wrap="square">
            <a:spAutoFit/>
          </a:bodyPr>
          <a:lstStyle/>
          <a:p>
            <a:pPr algn="l">
              <a:defRPr sz="2000" b="1">
                <a:solidFill>
                  <a:srgbClr val="142D5E"/>
                </a:solidFill>
                <a:latin typeface="Calibri"/>
              </a:defRPr>
            </a:pPr>
            <a:r>
              <a:t>Month-in-Brief</a:t>
            </a:r>
          </a:p>
        </p:txBody>
      </p:sp>
      <p:sp>
        <p:nvSpPr>
          <p:cNvPr id="7" name="TextBox 6"/>
          <p:cNvSpPr txBox="1"/>
          <p:nvPr/>
        </p:nvSpPr>
        <p:spPr>
          <a:xfrm>
            <a:off x="731520" y="4480560"/>
            <a:ext cx="10515600" cy="1371600"/>
          </a:xfrm>
          <a:prstGeom prst="rect">
            <a:avLst/>
          </a:prstGeom>
          <a:noFill/>
        </p:spPr>
        <p:txBody>
          <a:bodyPr wrap="square">
            <a:spAutoFit/>
          </a:bodyPr>
          <a:lstStyle/>
          <a:p>
            <a:pPr algn="l">
              <a:defRPr sz="1400" b="0">
                <a:solidFill>
                  <a:srgbClr val="2C3E50"/>
                </a:solidFill>
                <a:latin typeface="Calibri"/>
              </a:defRPr>
            </a:pPr>
            <a:r>
              <a:t>•  Summary of key retail events, earnings releases, and market-moving news for March 2026.</a:t>
            </a:r>
            <a:br/>
            <a:r>
              <a:t>•  [To be populated with month-specific commentary.]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2. Key Performance Indicators</a:t>
            </a:r>
          </a:p>
        </p:txBody>
      </p:sp>
      <p:sp>
        <p:nvSpPr>
          <p:cNvPr id="5" name="TextBox 4"/>
          <p:cNvSpPr txBox="1"/>
          <p:nvPr/>
        </p:nvSpPr>
        <p:spPr>
          <a:xfrm>
            <a:off x="731520" y="1280160"/>
            <a:ext cx="5029200" cy="365760"/>
          </a:xfrm>
          <a:prstGeom prst="rect">
            <a:avLst/>
          </a:prstGeom>
          <a:noFill/>
        </p:spPr>
        <p:txBody>
          <a:bodyPr wrap="square">
            <a:spAutoFit/>
          </a:bodyPr>
          <a:lstStyle/>
          <a:p>
            <a:pPr algn="l">
              <a:defRPr sz="1800" b="1">
                <a:solidFill>
                  <a:srgbClr val="142D5E"/>
                </a:solidFill>
                <a:latin typeface="Calibri"/>
              </a:defRPr>
            </a:pPr>
            <a:r>
              <a:t>UK Retail Sales (ONS Data)</a:t>
            </a:r>
          </a:p>
        </p:txBody>
      </p:sp>
      <p:graphicFrame>
        <p:nvGraphicFramePr>
          <p:cNvPr id="6" name="Table 5"/>
          <p:cNvGraphicFramePr>
            <a:graphicFrameLocks noGrp="1"/>
          </p:cNvGraphicFramePr>
          <p:nvPr/>
        </p:nvGraphicFramePr>
        <p:xfrm>
          <a:off x="731520" y="1737360"/>
          <a:ext cx="5029200" cy="1828800"/>
        </p:xfrm>
        <a:graphic>
          <a:graphicData uri="http://schemas.openxmlformats.org/drawingml/2006/table">
            <a:tbl>
              <a:tblPr firstRow="1" bandRow="1">
                <a:tableStyleId>{5C22544A-7EE6-4342-B048-85BDC9FD1C3A}</a:tableStyleId>
              </a:tblPr>
              <a:tblGrid>
                <a:gridCol w="2103120"/>
                <a:gridCol w="1005840"/>
                <a:gridCol w="1005840"/>
                <a:gridCol w="914400"/>
              </a:tblGrid>
              <a:tr h="365760">
                <a:tc>
                  <a:txBody>
                    <a:bodyPr/>
                    <a:lstStyle/>
                    <a:p>
                      <a:pPr algn="ctr">
                        <a:defRPr sz="1100" b="1">
                          <a:solidFill>
                            <a:srgbClr val="FFFFFF"/>
                          </a:solidFill>
                          <a:latin typeface="Calibri"/>
                        </a:defRPr>
                      </a:pPr>
                      <a:r>
                        <a:t>Indicator</a:t>
                      </a:r>
                    </a:p>
                  </a:txBody>
                  <a:tcPr anchor="ctr">
                    <a:solidFill>
                      <a:srgbClr val="142D5E"/>
                    </a:solidFill>
                  </a:tcPr>
                </a:tc>
                <a:tc>
                  <a:txBody>
                    <a:bodyPr/>
                    <a:lstStyle/>
                    <a:p>
                      <a:pPr algn="ctr">
                        <a:defRPr sz="1100" b="1">
                          <a:solidFill>
                            <a:srgbClr val="FFFFFF"/>
                          </a:solidFill>
                          <a:latin typeface="Calibri"/>
                        </a:defRPr>
                      </a:pPr>
                      <a:r>
                        <a:t>Latest</a:t>
                      </a:r>
                    </a:p>
                  </a:txBody>
                  <a:tcPr anchor="ctr">
                    <a:solidFill>
                      <a:srgbClr val="142D5E"/>
                    </a:solidFill>
                  </a:tcPr>
                </a:tc>
                <a:tc>
                  <a:txBody>
                    <a:bodyPr/>
                    <a:lstStyle/>
                    <a:p>
                      <a:pPr algn="ctr">
                        <a:defRPr sz="1100" b="1">
                          <a:solidFill>
                            <a:srgbClr val="FFFFFF"/>
                          </a:solidFill>
                          <a:latin typeface="Calibri"/>
                        </a:defRPr>
                      </a:pPr>
                      <a:r>
                        <a:t>MoM</a:t>
                      </a:r>
                    </a:p>
                  </a:txBody>
                  <a:tcPr anchor="ctr">
                    <a:solidFill>
                      <a:srgbClr val="142D5E"/>
                    </a:solidFill>
                  </a:tcPr>
                </a:tc>
                <a:tc>
                  <a:txBody>
                    <a:bodyPr/>
                    <a:lstStyle/>
                    <a:p>
                      <a:pPr algn="ctr">
                        <a:defRPr sz="1100" b="1">
                          <a:solidFill>
                            <a:srgbClr val="FFFFFF"/>
                          </a:solidFill>
                          <a:latin typeface="Calibri"/>
                        </a:defRPr>
                      </a:pPr>
                      <a:r>
                        <a:t>YoY</a:t>
                      </a:r>
                    </a:p>
                  </a:txBody>
                  <a:tcPr anchor="ctr">
                    <a:solidFill>
                      <a:srgbClr val="142D5E"/>
                    </a:solidFill>
                  </a:tcPr>
                </a:tc>
              </a:tr>
              <a:tr h="365760">
                <a:tc>
                  <a:txBody>
                    <a:bodyPr/>
                    <a:lstStyle/>
                    <a:p>
                      <a:pPr algn="l">
                        <a:defRPr sz="1100">
                          <a:solidFill>
                            <a:srgbClr val="2C3E50"/>
                          </a:solidFill>
                          <a:latin typeface="Calibri"/>
                        </a:defRPr>
                      </a:pPr>
                      <a:r>
                        <a:t>Total Retail Sales Volume</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365760">
                <a:tc>
                  <a:txBody>
                    <a:bodyPr/>
                    <a:lstStyle/>
                    <a:p>
                      <a:pPr algn="l">
                        <a:defRPr sz="1100">
                          <a:solidFill>
                            <a:srgbClr val="2C3E50"/>
                          </a:solidFill>
                          <a:latin typeface="Calibri"/>
                        </a:defRPr>
                      </a:pPr>
                      <a:r>
                        <a:t>Food Store Sales</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365760">
                <a:tc>
                  <a:txBody>
                    <a:bodyPr/>
                    <a:lstStyle/>
                    <a:p>
                      <a:pPr algn="l">
                        <a:defRPr sz="1100">
                          <a:solidFill>
                            <a:srgbClr val="2C3E50"/>
                          </a:solidFill>
                          <a:latin typeface="Calibri"/>
                        </a:defRPr>
                      </a:pPr>
                      <a:r>
                        <a:t>Non-Food Store Sales</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365760">
                <a:tc>
                  <a:txBody>
                    <a:bodyPr/>
                    <a:lstStyle/>
                    <a:p>
                      <a:pPr algn="l">
                        <a:defRPr sz="1100">
                          <a:solidFill>
                            <a:srgbClr val="2C3E50"/>
                          </a:solidFill>
                          <a:latin typeface="Calibri"/>
                        </a:defRPr>
                      </a:pPr>
                      <a:r>
                        <a:t>Online Retail (% of total)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bl>
          </a:graphicData>
        </a:graphic>
      </p:graphicFrame>
      <p:sp>
        <p:nvSpPr>
          <p:cNvPr id="7" name="TextBox 6"/>
          <p:cNvSpPr txBox="1"/>
          <p:nvPr/>
        </p:nvSpPr>
        <p:spPr>
          <a:xfrm>
            <a:off x="6400800" y="1280160"/>
            <a:ext cx="5029200" cy="365760"/>
          </a:xfrm>
          <a:prstGeom prst="rect">
            <a:avLst/>
          </a:prstGeom>
          <a:noFill/>
        </p:spPr>
        <p:txBody>
          <a:bodyPr wrap="square">
            <a:spAutoFit/>
          </a:bodyPr>
          <a:lstStyle/>
          <a:p>
            <a:pPr algn="l">
              <a:defRPr sz="1800" b="1">
                <a:solidFill>
                  <a:srgbClr val="142D5E"/>
                </a:solidFill>
                <a:latin typeface="Calibri"/>
              </a:defRPr>
            </a:pPr>
            <a:r>
              <a:t>BRC-KPMG Retail Sales Monitor</a:t>
            </a:r>
          </a:p>
        </p:txBody>
      </p:sp>
      <p:graphicFrame>
        <p:nvGraphicFramePr>
          <p:cNvPr id="8" name="Table 7"/>
          <p:cNvGraphicFramePr>
            <a:graphicFrameLocks noGrp="1"/>
          </p:cNvGraphicFramePr>
          <p:nvPr/>
        </p:nvGraphicFramePr>
        <p:xfrm>
          <a:off x="6400800" y="1737360"/>
          <a:ext cx="5029200" cy="1463040"/>
        </p:xfrm>
        <a:graphic>
          <a:graphicData uri="http://schemas.openxmlformats.org/drawingml/2006/table">
            <a:tbl>
              <a:tblPr firstRow="1" bandRow="1">
                <a:tableStyleId>{5C22544A-7EE6-4342-B048-85BDC9FD1C3A}</a:tableStyleId>
              </a:tblPr>
              <a:tblGrid>
                <a:gridCol w="2286000"/>
                <a:gridCol w="1371600"/>
                <a:gridCol w="1371600"/>
              </a:tblGrid>
              <a:tr h="365760">
                <a:tc>
                  <a:txBody>
                    <a:bodyPr/>
                    <a:lstStyle/>
                    <a:p>
                      <a:pPr algn="ctr">
                        <a:defRPr sz="1100" b="1">
                          <a:solidFill>
                            <a:srgbClr val="FFFFFF"/>
                          </a:solidFill>
                          <a:latin typeface="Calibri"/>
                        </a:defRPr>
                      </a:pPr>
                      <a:r>
                        <a:t>Metric</a:t>
                      </a:r>
                    </a:p>
                  </a:txBody>
                  <a:tcPr anchor="ctr">
                    <a:solidFill>
                      <a:srgbClr val="142D5E"/>
                    </a:solidFill>
                  </a:tcPr>
                </a:tc>
                <a:tc>
                  <a:txBody>
                    <a:bodyPr/>
                    <a:lstStyle/>
                    <a:p>
                      <a:pPr algn="ctr">
                        <a:defRPr sz="1100" b="1">
                          <a:solidFill>
                            <a:srgbClr val="FFFFFF"/>
                          </a:solidFill>
                          <a:latin typeface="Calibri"/>
                        </a:defRPr>
                      </a:pPr>
                      <a:r>
                        <a:t>Value</a:t>
                      </a:r>
                    </a:p>
                  </a:txBody>
                  <a:tcPr anchor="ctr">
                    <a:solidFill>
                      <a:srgbClr val="142D5E"/>
                    </a:solidFill>
                  </a:tcPr>
                </a:tc>
                <a:tc>
                  <a:txBody>
                    <a:bodyPr/>
                    <a:lstStyle/>
                    <a:p>
                      <a:pPr algn="ctr">
                        <a:defRPr sz="1100" b="1">
                          <a:solidFill>
                            <a:srgbClr val="FFFFFF"/>
                          </a:solidFill>
                          <a:latin typeface="Calibri"/>
                        </a:defRPr>
                      </a:pPr>
                      <a:r>
                        <a:t>Trend</a:t>
                      </a:r>
                    </a:p>
                  </a:txBody>
                  <a:tcPr anchor="ctr">
                    <a:solidFill>
                      <a:srgbClr val="142D5E"/>
                    </a:solidFill>
                  </a:tcPr>
                </a:tc>
              </a:tr>
              <a:tr h="365760">
                <a:tc>
                  <a:txBody>
                    <a:bodyPr/>
                    <a:lstStyle/>
                    <a:p>
                      <a:pPr algn="l">
                        <a:defRPr sz="1100">
                          <a:solidFill>
                            <a:srgbClr val="2C3E50"/>
                          </a:solidFill>
                          <a:latin typeface="Calibri"/>
                        </a:defRPr>
                      </a:pPr>
                      <a:r>
                        <a:t>Total Sales Growth (LFL)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365760">
                <a:tc>
                  <a:txBody>
                    <a:bodyPr/>
                    <a:lstStyle/>
                    <a:p>
                      <a:pPr algn="l">
                        <a:defRPr sz="1100">
                          <a:solidFill>
                            <a:srgbClr val="2C3E50"/>
                          </a:solidFill>
                          <a:latin typeface="Calibri"/>
                        </a:defRPr>
                      </a:pPr>
                      <a:r>
                        <a:t>Food Sales Growth</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365760">
                <a:tc>
                  <a:txBody>
                    <a:bodyPr/>
                    <a:lstStyle/>
                    <a:p>
                      <a:pPr algn="l">
                        <a:defRPr sz="1100">
                          <a:solidFill>
                            <a:srgbClr val="2C3E50"/>
                          </a:solidFill>
                          <a:latin typeface="Calibri"/>
                        </a:defRPr>
                      </a:pPr>
                      <a:r>
                        <a:t>Non-Food Sales Growth</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3a. Listed Retailers — Grocery &amp; Food</a:t>
            </a:r>
          </a:p>
        </p:txBody>
      </p:sp>
      <p:graphicFrame>
        <p:nvGraphicFramePr>
          <p:cNvPr id="5" name="Table 4"/>
          <p:cNvGraphicFramePr>
            <a:graphicFrameLocks noGrp="1"/>
          </p:cNvGraphicFramePr>
          <p:nvPr/>
        </p:nvGraphicFramePr>
        <p:xfrm>
          <a:off x="548640" y="1463040"/>
          <a:ext cx="11064240" cy="2286000"/>
        </p:xfrm>
        <a:graphic>
          <a:graphicData uri="http://schemas.openxmlformats.org/drawingml/2006/table">
            <a:tbl>
              <a:tblPr firstRow="1" bandRow="1">
                <a:tableStyleId>{5C22544A-7EE6-4342-B048-85BDC9FD1C3A}</a:tableStyleId>
              </a:tblPr>
              <a:tblGrid>
                <a:gridCol w="2011680"/>
                <a:gridCol w="1097280"/>
                <a:gridCol w="1645920"/>
                <a:gridCol w="1463040"/>
                <a:gridCol w="1463040"/>
                <a:gridCol w="1645920"/>
                <a:gridCol w="1737360"/>
              </a:tblGrid>
              <a:tr h="457200">
                <a:tc>
                  <a:txBody>
                    <a:bodyPr/>
                    <a:lstStyle/>
                    <a:p>
                      <a:pPr algn="ctr">
                        <a:defRPr sz="1100" b="1">
                          <a:solidFill>
                            <a:srgbClr val="FFFFFF"/>
                          </a:solidFill>
                          <a:latin typeface="Calibri"/>
                        </a:defRPr>
                      </a:pPr>
                      <a:r>
                        <a:t>Company</a:t>
                      </a:r>
                    </a:p>
                  </a:txBody>
                  <a:tcPr anchor="ctr">
                    <a:solidFill>
                      <a:srgbClr val="142D5E"/>
                    </a:solidFill>
                  </a:tcPr>
                </a:tc>
                <a:tc>
                  <a:txBody>
                    <a:bodyPr/>
                    <a:lstStyle/>
                    <a:p>
                      <a:pPr algn="ctr">
                        <a:defRPr sz="1100" b="1">
                          <a:solidFill>
                            <a:srgbClr val="FFFFFF"/>
                          </a:solidFill>
                          <a:latin typeface="Calibri"/>
                        </a:defRPr>
                      </a:pPr>
                      <a:r>
                        <a:t>Ticker</a:t>
                      </a:r>
                    </a:p>
                  </a:txBody>
                  <a:tcPr anchor="ctr">
                    <a:solidFill>
                      <a:srgbClr val="142D5E"/>
                    </a:solidFill>
                  </a:tcPr>
                </a:tc>
                <a:tc>
                  <a:txBody>
                    <a:bodyPr/>
                    <a:lstStyle/>
                    <a:p>
                      <a:pPr algn="ctr">
                        <a:defRPr sz="1100" b="1">
                          <a:solidFill>
                            <a:srgbClr val="FFFFFF"/>
                          </a:solidFill>
                          <a:latin typeface="Calibri"/>
                        </a:defRPr>
                      </a:pPr>
                      <a:r>
                        <a:t>Revenue (£m)</a:t>
                      </a:r>
                    </a:p>
                  </a:txBody>
                  <a:tcPr anchor="ctr">
                    <a:solidFill>
                      <a:srgbClr val="142D5E"/>
                    </a:solidFill>
                  </a:tcPr>
                </a:tc>
                <a:tc>
                  <a:txBody>
                    <a:bodyPr/>
                    <a:lstStyle/>
                    <a:p>
                      <a:pPr algn="ctr">
                        <a:defRPr sz="1100" b="1">
                          <a:solidFill>
                            <a:srgbClr val="FFFFFF"/>
                          </a:solidFill>
                          <a:latin typeface="Calibri"/>
                        </a:defRPr>
                      </a:pPr>
                      <a:r>
                        <a:t>Rev Growth</a:t>
                      </a:r>
                    </a:p>
                  </a:txBody>
                  <a:tcPr anchor="ctr">
                    <a:solidFill>
                      <a:srgbClr val="142D5E"/>
                    </a:solidFill>
                  </a:tcPr>
                </a:tc>
                <a:tc>
                  <a:txBody>
                    <a:bodyPr/>
                    <a:lstStyle/>
                    <a:p>
                      <a:pPr algn="ctr">
                        <a:defRPr sz="1100" b="1">
                          <a:solidFill>
                            <a:srgbClr val="FFFFFF"/>
                          </a:solidFill>
                          <a:latin typeface="Calibri"/>
                        </a:defRPr>
                      </a:pPr>
                      <a:r>
                        <a:t>Op. Margin</a:t>
                      </a:r>
                    </a:p>
                  </a:txBody>
                  <a:tcPr anchor="ctr">
                    <a:solidFill>
                      <a:srgbClr val="142D5E"/>
                    </a:solidFill>
                  </a:tcPr>
                </a:tc>
                <a:tc>
                  <a:txBody>
                    <a:bodyPr/>
                    <a:lstStyle/>
                    <a:p>
                      <a:pPr algn="ctr">
                        <a:defRPr sz="1100" b="1">
                          <a:solidFill>
                            <a:srgbClr val="FFFFFF"/>
                          </a:solidFill>
                          <a:latin typeface="Calibri"/>
                        </a:defRPr>
                      </a:pPr>
                      <a:r>
                        <a:t>Share Price</a:t>
                      </a:r>
                    </a:p>
                  </a:txBody>
                  <a:tcPr anchor="ctr">
                    <a:solidFill>
                      <a:srgbClr val="142D5E"/>
                    </a:solidFill>
                  </a:tcPr>
                </a:tc>
                <a:tc>
                  <a:txBody>
                    <a:bodyPr/>
                    <a:lstStyle/>
                    <a:p>
                      <a:pPr algn="ctr">
                        <a:defRPr sz="1100" b="1">
                          <a:solidFill>
                            <a:srgbClr val="FFFFFF"/>
                          </a:solidFill>
                          <a:latin typeface="Calibri"/>
                        </a:defRPr>
                      </a:pPr>
                      <a:r>
                        <a:t>MoM Chg</a:t>
                      </a:r>
                    </a:p>
                  </a:txBody>
                  <a:tcPr anchor="ctr">
                    <a:solidFill>
                      <a:srgbClr val="142D5E"/>
                    </a:solidFill>
                  </a:tcPr>
                </a:tc>
              </a:tr>
              <a:tr h="457200">
                <a:tc>
                  <a:txBody>
                    <a:bodyPr/>
                    <a:lstStyle/>
                    <a:p>
                      <a:pPr algn="l">
                        <a:defRPr sz="1100">
                          <a:solidFill>
                            <a:srgbClr val="2C3E50"/>
                          </a:solidFill>
                          <a:latin typeface="Calibri"/>
                        </a:defRPr>
                      </a:pPr>
                      <a:r>
                        <a:t>Tesco</a:t>
                      </a:r>
                    </a:p>
                  </a:txBody>
                  <a:tcPr anchor="ctr">
                    <a:solidFill>
                      <a:srgbClr val="FFFFFF"/>
                    </a:solidFill>
                  </a:tcPr>
                </a:tc>
                <a:tc>
                  <a:txBody>
                    <a:bodyPr/>
                    <a:lstStyle/>
                    <a:p>
                      <a:pPr algn="ctr">
                        <a:defRPr sz="1100">
                          <a:solidFill>
                            <a:srgbClr val="2C3E50"/>
                          </a:solidFill>
                          <a:latin typeface="Calibri"/>
                        </a:defRPr>
                      </a:pPr>
                      <a:r>
                        <a:t>TSCO.L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Sainsbury's</a:t>
                      </a:r>
                    </a:p>
                  </a:txBody>
                  <a:tcPr anchor="ctr">
                    <a:solidFill>
                      <a:srgbClr val="F2F2F2"/>
                    </a:solidFill>
                  </a:tcPr>
                </a:tc>
                <a:tc>
                  <a:txBody>
                    <a:bodyPr/>
                    <a:lstStyle/>
                    <a:p>
                      <a:pPr algn="ctr">
                        <a:defRPr sz="1100">
                          <a:solidFill>
                            <a:srgbClr val="2C3E50"/>
                          </a:solidFill>
                          <a:latin typeface="Calibri"/>
                        </a:defRPr>
                      </a:pPr>
                      <a:r>
                        <a:t>SBRY.L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57200">
                <a:tc>
                  <a:txBody>
                    <a:bodyPr/>
                    <a:lstStyle/>
                    <a:p>
                      <a:pPr algn="l">
                        <a:defRPr sz="1100">
                          <a:solidFill>
                            <a:srgbClr val="2C3E50"/>
                          </a:solidFill>
                          <a:latin typeface="Calibri"/>
                        </a:defRPr>
                      </a:pPr>
                      <a:r>
                        <a:t>Marks &amp; Spencer</a:t>
                      </a:r>
                    </a:p>
                  </a:txBody>
                  <a:tcPr anchor="ctr">
                    <a:solidFill>
                      <a:srgbClr val="FFFFFF"/>
                    </a:solidFill>
                  </a:tcPr>
                </a:tc>
                <a:tc>
                  <a:txBody>
                    <a:bodyPr/>
                    <a:lstStyle/>
                    <a:p>
                      <a:pPr algn="ctr">
                        <a:defRPr sz="1100">
                          <a:solidFill>
                            <a:srgbClr val="2C3E50"/>
                          </a:solidFill>
                          <a:latin typeface="Calibri"/>
                        </a:defRPr>
                      </a:pPr>
                      <a:r>
                        <a:t>MKS.L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Ocado Group</a:t>
                      </a:r>
                    </a:p>
                  </a:txBody>
                  <a:tcPr anchor="ctr">
                    <a:solidFill>
                      <a:srgbClr val="F2F2F2"/>
                    </a:solidFill>
                  </a:tcPr>
                </a:tc>
                <a:tc>
                  <a:txBody>
                    <a:bodyPr/>
                    <a:lstStyle/>
                    <a:p>
                      <a:pPr algn="ctr">
                        <a:defRPr sz="1100">
                          <a:solidFill>
                            <a:srgbClr val="2C3E50"/>
                          </a:solidFill>
                          <a:latin typeface="Calibri"/>
                        </a:defRPr>
                      </a:pPr>
                      <a:r>
                        <a:t>OCDO.L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3b. Listed Retailers — Fashion &amp; General Merchandise</a:t>
            </a:r>
          </a:p>
        </p:txBody>
      </p:sp>
      <p:graphicFrame>
        <p:nvGraphicFramePr>
          <p:cNvPr id="5" name="Table 4"/>
          <p:cNvGraphicFramePr>
            <a:graphicFrameLocks noGrp="1"/>
          </p:cNvGraphicFramePr>
          <p:nvPr/>
        </p:nvGraphicFramePr>
        <p:xfrm>
          <a:off x="548640" y="1463040"/>
          <a:ext cx="11064240" cy="2743200"/>
        </p:xfrm>
        <a:graphic>
          <a:graphicData uri="http://schemas.openxmlformats.org/drawingml/2006/table">
            <a:tbl>
              <a:tblPr firstRow="1" bandRow="1">
                <a:tableStyleId>{5C22544A-7EE6-4342-B048-85BDC9FD1C3A}</a:tableStyleId>
              </a:tblPr>
              <a:tblGrid>
                <a:gridCol w="2011680"/>
                <a:gridCol w="1097280"/>
                <a:gridCol w="1645920"/>
                <a:gridCol w="1463040"/>
                <a:gridCol w="1463040"/>
                <a:gridCol w="1645920"/>
                <a:gridCol w="1737360"/>
              </a:tblGrid>
              <a:tr h="457200">
                <a:tc>
                  <a:txBody>
                    <a:bodyPr/>
                    <a:lstStyle/>
                    <a:p>
                      <a:pPr algn="ctr">
                        <a:defRPr sz="1100" b="1">
                          <a:solidFill>
                            <a:srgbClr val="FFFFFF"/>
                          </a:solidFill>
                          <a:latin typeface="Calibri"/>
                        </a:defRPr>
                      </a:pPr>
                      <a:r>
                        <a:t>Company</a:t>
                      </a:r>
                    </a:p>
                  </a:txBody>
                  <a:tcPr anchor="ctr">
                    <a:solidFill>
                      <a:srgbClr val="142D5E"/>
                    </a:solidFill>
                  </a:tcPr>
                </a:tc>
                <a:tc>
                  <a:txBody>
                    <a:bodyPr/>
                    <a:lstStyle/>
                    <a:p>
                      <a:pPr algn="ctr">
                        <a:defRPr sz="1100" b="1">
                          <a:solidFill>
                            <a:srgbClr val="FFFFFF"/>
                          </a:solidFill>
                          <a:latin typeface="Calibri"/>
                        </a:defRPr>
                      </a:pPr>
                      <a:r>
                        <a:t>Ticker</a:t>
                      </a:r>
                    </a:p>
                  </a:txBody>
                  <a:tcPr anchor="ctr">
                    <a:solidFill>
                      <a:srgbClr val="142D5E"/>
                    </a:solidFill>
                  </a:tcPr>
                </a:tc>
                <a:tc>
                  <a:txBody>
                    <a:bodyPr/>
                    <a:lstStyle/>
                    <a:p>
                      <a:pPr algn="ctr">
                        <a:defRPr sz="1100" b="1">
                          <a:solidFill>
                            <a:srgbClr val="FFFFFF"/>
                          </a:solidFill>
                          <a:latin typeface="Calibri"/>
                        </a:defRPr>
                      </a:pPr>
                      <a:r>
                        <a:t>Revenue (£m)</a:t>
                      </a:r>
                    </a:p>
                  </a:txBody>
                  <a:tcPr anchor="ctr">
                    <a:solidFill>
                      <a:srgbClr val="142D5E"/>
                    </a:solidFill>
                  </a:tcPr>
                </a:tc>
                <a:tc>
                  <a:txBody>
                    <a:bodyPr/>
                    <a:lstStyle/>
                    <a:p>
                      <a:pPr algn="ctr">
                        <a:defRPr sz="1100" b="1">
                          <a:solidFill>
                            <a:srgbClr val="FFFFFF"/>
                          </a:solidFill>
                          <a:latin typeface="Calibri"/>
                        </a:defRPr>
                      </a:pPr>
                      <a:r>
                        <a:t>Rev Growth</a:t>
                      </a:r>
                    </a:p>
                  </a:txBody>
                  <a:tcPr anchor="ctr">
                    <a:solidFill>
                      <a:srgbClr val="142D5E"/>
                    </a:solidFill>
                  </a:tcPr>
                </a:tc>
                <a:tc>
                  <a:txBody>
                    <a:bodyPr/>
                    <a:lstStyle/>
                    <a:p>
                      <a:pPr algn="ctr">
                        <a:defRPr sz="1100" b="1">
                          <a:solidFill>
                            <a:srgbClr val="FFFFFF"/>
                          </a:solidFill>
                          <a:latin typeface="Calibri"/>
                        </a:defRPr>
                      </a:pPr>
                      <a:r>
                        <a:t>Op. Margin</a:t>
                      </a:r>
                    </a:p>
                  </a:txBody>
                  <a:tcPr anchor="ctr">
                    <a:solidFill>
                      <a:srgbClr val="142D5E"/>
                    </a:solidFill>
                  </a:tcPr>
                </a:tc>
                <a:tc>
                  <a:txBody>
                    <a:bodyPr/>
                    <a:lstStyle/>
                    <a:p>
                      <a:pPr algn="ctr">
                        <a:defRPr sz="1100" b="1">
                          <a:solidFill>
                            <a:srgbClr val="FFFFFF"/>
                          </a:solidFill>
                          <a:latin typeface="Calibri"/>
                        </a:defRPr>
                      </a:pPr>
                      <a:r>
                        <a:t>Share Price</a:t>
                      </a:r>
                    </a:p>
                  </a:txBody>
                  <a:tcPr anchor="ctr">
                    <a:solidFill>
                      <a:srgbClr val="142D5E"/>
                    </a:solidFill>
                  </a:tcPr>
                </a:tc>
                <a:tc>
                  <a:txBody>
                    <a:bodyPr/>
                    <a:lstStyle/>
                    <a:p>
                      <a:pPr algn="ctr">
                        <a:defRPr sz="1100" b="1">
                          <a:solidFill>
                            <a:srgbClr val="FFFFFF"/>
                          </a:solidFill>
                          <a:latin typeface="Calibri"/>
                        </a:defRPr>
                      </a:pPr>
                      <a:r>
                        <a:t>MoM Chg</a:t>
                      </a:r>
                    </a:p>
                  </a:txBody>
                  <a:tcPr anchor="ctr">
                    <a:solidFill>
                      <a:srgbClr val="142D5E"/>
                    </a:solidFill>
                  </a:tcPr>
                </a:tc>
              </a:tr>
              <a:tr h="457200">
                <a:tc>
                  <a:txBody>
                    <a:bodyPr/>
                    <a:lstStyle/>
                    <a:p>
                      <a:pPr algn="l">
                        <a:defRPr sz="1100">
                          <a:solidFill>
                            <a:srgbClr val="2C3E50"/>
                          </a:solidFill>
                          <a:latin typeface="Calibri"/>
                        </a:defRPr>
                      </a:pPr>
                      <a:r>
                        <a:t>Next</a:t>
                      </a:r>
                    </a:p>
                  </a:txBody>
                  <a:tcPr anchor="ctr">
                    <a:solidFill>
                      <a:srgbClr val="FFFFFF"/>
                    </a:solidFill>
                  </a:tcPr>
                </a:tc>
                <a:tc>
                  <a:txBody>
                    <a:bodyPr/>
                    <a:lstStyle/>
                    <a:p>
                      <a:pPr algn="ctr">
                        <a:defRPr sz="1100">
                          <a:solidFill>
                            <a:srgbClr val="2C3E50"/>
                          </a:solidFill>
                          <a:latin typeface="Calibri"/>
                        </a:defRPr>
                      </a:pPr>
                      <a:r>
                        <a:t>NXT.L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ABF (Primark)</a:t>
                      </a:r>
                    </a:p>
                  </a:txBody>
                  <a:tcPr anchor="ctr">
                    <a:solidFill>
                      <a:srgbClr val="F2F2F2"/>
                    </a:solidFill>
                  </a:tcPr>
                </a:tc>
                <a:tc>
                  <a:txBody>
                    <a:bodyPr/>
                    <a:lstStyle/>
                    <a:p>
                      <a:pPr algn="ctr">
                        <a:defRPr sz="1100">
                          <a:solidFill>
                            <a:srgbClr val="2C3E50"/>
                          </a:solidFill>
                          <a:latin typeface="Calibri"/>
                        </a:defRPr>
                      </a:pPr>
                      <a:r>
                        <a:t>ABF.L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57200">
                <a:tc>
                  <a:txBody>
                    <a:bodyPr/>
                    <a:lstStyle/>
                    <a:p>
                      <a:pPr algn="l">
                        <a:defRPr sz="1100">
                          <a:solidFill>
                            <a:srgbClr val="2C3E50"/>
                          </a:solidFill>
                          <a:latin typeface="Calibri"/>
                        </a:defRPr>
                      </a:pPr>
                      <a:r>
                        <a:t>JD Sports</a:t>
                      </a:r>
                    </a:p>
                  </a:txBody>
                  <a:tcPr anchor="ctr">
                    <a:solidFill>
                      <a:srgbClr val="FFFFFF"/>
                    </a:solidFill>
                  </a:tcPr>
                </a:tc>
                <a:tc>
                  <a:txBody>
                    <a:bodyPr/>
                    <a:lstStyle/>
                    <a:p>
                      <a:pPr algn="ctr">
                        <a:defRPr sz="1100">
                          <a:solidFill>
                            <a:srgbClr val="2C3E50"/>
                          </a:solidFill>
                          <a:latin typeface="Calibri"/>
                        </a:defRPr>
                      </a:pPr>
                      <a:r>
                        <a:t>JD.L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Frasers Group</a:t>
                      </a:r>
                    </a:p>
                  </a:txBody>
                  <a:tcPr anchor="ctr">
                    <a:solidFill>
                      <a:srgbClr val="F2F2F2"/>
                    </a:solidFill>
                  </a:tcPr>
                </a:tc>
                <a:tc>
                  <a:txBody>
                    <a:bodyPr/>
                    <a:lstStyle/>
                    <a:p>
                      <a:pPr algn="ctr">
                        <a:defRPr sz="1100">
                          <a:solidFill>
                            <a:srgbClr val="2C3E50"/>
                          </a:solidFill>
                          <a:latin typeface="Calibri"/>
                        </a:defRPr>
                      </a:pPr>
                      <a:r>
                        <a:t>FRAS.L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57200">
                <a:tc>
                  <a:txBody>
                    <a:bodyPr/>
                    <a:lstStyle/>
                    <a:p>
                      <a:pPr algn="l">
                        <a:defRPr sz="1100">
                          <a:solidFill>
                            <a:srgbClr val="2C3E50"/>
                          </a:solidFill>
                          <a:latin typeface="Calibri"/>
                        </a:defRPr>
                      </a:pPr>
                      <a:r>
                        <a:t>boohoo Group</a:t>
                      </a:r>
                    </a:p>
                  </a:txBody>
                  <a:tcPr anchor="ctr">
                    <a:solidFill>
                      <a:srgbClr val="FFFFFF"/>
                    </a:solidFill>
                  </a:tcPr>
                </a:tc>
                <a:tc>
                  <a:txBody>
                    <a:bodyPr/>
                    <a:lstStyle/>
                    <a:p>
                      <a:pPr algn="ctr">
                        <a:defRPr sz="1100">
                          <a:solidFill>
                            <a:srgbClr val="2C3E50"/>
                          </a:solidFill>
                          <a:latin typeface="Calibri"/>
                        </a:defRPr>
                      </a:pPr>
                      <a:r>
                        <a:t>BOO.L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3c. Listed Retailers — Home, DIY &amp; Specialty</a:t>
            </a:r>
          </a:p>
        </p:txBody>
      </p:sp>
      <p:graphicFrame>
        <p:nvGraphicFramePr>
          <p:cNvPr id="5" name="Table 4"/>
          <p:cNvGraphicFramePr>
            <a:graphicFrameLocks noGrp="1"/>
          </p:cNvGraphicFramePr>
          <p:nvPr/>
        </p:nvGraphicFramePr>
        <p:xfrm>
          <a:off x="548640" y="1463040"/>
          <a:ext cx="11064240" cy="2286000"/>
        </p:xfrm>
        <a:graphic>
          <a:graphicData uri="http://schemas.openxmlformats.org/drawingml/2006/table">
            <a:tbl>
              <a:tblPr firstRow="1" bandRow="1">
                <a:tableStyleId>{5C22544A-7EE6-4342-B048-85BDC9FD1C3A}</a:tableStyleId>
              </a:tblPr>
              <a:tblGrid>
                <a:gridCol w="2011680"/>
                <a:gridCol w="1097280"/>
                <a:gridCol w="1645920"/>
                <a:gridCol w="1463040"/>
                <a:gridCol w="1463040"/>
                <a:gridCol w="1645920"/>
                <a:gridCol w="1737360"/>
              </a:tblGrid>
              <a:tr h="457200">
                <a:tc>
                  <a:txBody>
                    <a:bodyPr/>
                    <a:lstStyle/>
                    <a:p>
                      <a:pPr algn="ctr">
                        <a:defRPr sz="1100" b="1">
                          <a:solidFill>
                            <a:srgbClr val="FFFFFF"/>
                          </a:solidFill>
                          <a:latin typeface="Calibri"/>
                        </a:defRPr>
                      </a:pPr>
                      <a:r>
                        <a:t>Company</a:t>
                      </a:r>
                    </a:p>
                  </a:txBody>
                  <a:tcPr anchor="ctr">
                    <a:solidFill>
                      <a:srgbClr val="142D5E"/>
                    </a:solidFill>
                  </a:tcPr>
                </a:tc>
                <a:tc>
                  <a:txBody>
                    <a:bodyPr/>
                    <a:lstStyle/>
                    <a:p>
                      <a:pPr algn="ctr">
                        <a:defRPr sz="1100" b="1">
                          <a:solidFill>
                            <a:srgbClr val="FFFFFF"/>
                          </a:solidFill>
                          <a:latin typeface="Calibri"/>
                        </a:defRPr>
                      </a:pPr>
                      <a:r>
                        <a:t>Ticker</a:t>
                      </a:r>
                    </a:p>
                  </a:txBody>
                  <a:tcPr anchor="ctr">
                    <a:solidFill>
                      <a:srgbClr val="142D5E"/>
                    </a:solidFill>
                  </a:tcPr>
                </a:tc>
                <a:tc>
                  <a:txBody>
                    <a:bodyPr/>
                    <a:lstStyle/>
                    <a:p>
                      <a:pPr algn="ctr">
                        <a:defRPr sz="1100" b="1">
                          <a:solidFill>
                            <a:srgbClr val="FFFFFF"/>
                          </a:solidFill>
                          <a:latin typeface="Calibri"/>
                        </a:defRPr>
                      </a:pPr>
                      <a:r>
                        <a:t>Revenue (£m)</a:t>
                      </a:r>
                    </a:p>
                  </a:txBody>
                  <a:tcPr anchor="ctr">
                    <a:solidFill>
                      <a:srgbClr val="142D5E"/>
                    </a:solidFill>
                  </a:tcPr>
                </a:tc>
                <a:tc>
                  <a:txBody>
                    <a:bodyPr/>
                    <a:lstStyle/>
                    <a:p>
                      <a:pPr algn="ctr">
                        <a:defRPr sz="1100" b="1">
                          <a:solidFill>
                            <a:srgbClr val="FFFFFF"/>
                          </a:solidFill>
                          <a:latin typeface="Calibri"/>
                        </a:defRPr>
                      </a:pPr>
                      <a:r>
                        <a:t>Rev Growth</a:t>
                      </a:r>
                    </a:p>
                  </a:txBody>
                  <a:tcPr anchor="ctr">
                    <a:solidFill>
                      <a:srgbClr val="142D5E"/>
                    </a:solidFill>
                  </a:tcPr>
                </a:tc>
                <a:tc>
                  <a:txBody>
                    <a:bodyPr/>
                    <a:lstStyle/>
                    <a:p>
                      <a:pPr algn="ctr">
                        <a:defRPr sz="1100" b="1">
                          <a:solidFill>
                            <a:srgbClr val="FFFFFF"/>
                          </a:solidFill>
                          <a:latin typeface="Calibri"/>
                        </a:defRPr>
                      </a:pPr>
                      <a:r>
                        <a:t>Op. Margin</a:t>
                      </a:r>
                    </a:p>
                  </a:txBody>
                  <a:tcPr anchor="ctr">
                    <a:solidFill>
                      <a:srgbClr val="142D5E"/>
                    </a:solidFill>
                  </a:tcPr>
                </a:tc>
                <a:tc>
                  <a:txBody>
                    <a:bodyPr/>
                    <a:lstStyle/>
                    <a:p>
                      <a:pPr algn="ctr">
                        <a:defRPr sz="1100" b="1">
                          <a:solidFill>
                            <a:srgbClr val="FFFFFF"/>
                          </a:solidFill>
                          <a:latin typeface="Calibri"/>
                        </a:defRPr>
                      </a:pPr>
                      <a:r>
                        <a:t>Share Price</a:t>
                      </a:r>
                    </a:p>
                  </a:txBody>
                  <a:tcPr anchor="ctr">
                    <a:solidFill>
                      <a:srgbClr val="142D5E"/>
                    </a:solidFill>
                  </a:tcPr>
                </a:tc>
                <a:tc>
                  <a:txBody>
                    <a:bodyPr/>
                    <a:lstStyle/>
                    <a:p>
                      <a:pPr algn="ctr">
                        <a:defRPr sz="1100" b="1">
                          <a:solidFill>
                            <a:srgbClr val="FFFFFF"/>
                          </a:solidFill>
                          <a:latin typeface="Calibri"/>
                        </a:defRPr>
                      </a:pPr>
                      <a:r>
                        <a:t>MoM Chg</a:t>
                      </a:r>
                    </a:p>
                  </a:txBody>
                  <a:tcPr anchor="ctr">
                    <a:solidFill>
                      <a:srgbClr val="142D5E"/>
                    </a:solidFill>
                  </a:tcPr>
                </a:tc>
              </a:tr>
              <a:tr h="457200">
                <a:tc>
                  <a:txBody>
                    <a:bodyPr/>
                    <a:lstStyle/>
                    <a:p>
                      <a:pPr algn="l">
                        <a:defRPr sz="1100">
                          <a:solidFill>
                            <a:srgbClr val="2C3E50"/>
                          </a:solidFill>
                          <a:latin typeface="Calibri"/>
                        </a:defRPr>
                      </a:pPr>
                      <a:r>
                        <a:t>Kingfisher (B&amp;Q)</a:t>
                      </a:r>
                    </a:p>
                  </a:txBody>
                  <a:tcPr anchor="ctr">
                    <a:solidFill>
                      <a:srgbClr val="FFFFFF"/>
                    </a:solidFill>
                  </a:tcPr>
                </a:tc>
                <a:tc>
                  <a:txBody>
                    <a:bodyPr/>
                    <a:lstStyle/>
                    <a:p>
                      <a:pPr algn="ctr">
                        <a:defRPr sz="1100">
                          <a:solidFill>
                            <a:srgbClr val="2C3E50"/>
                          </a:solidFill>
                          <a:latin typeface="Calibri"/>
                        </a:defRPr>
                      </a:pPr>
                      <a:r>
                        <a:t>KGF.L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Dunelm</a:t>
                      </a:r>
                    </a:p>
                  </a:txBody>
                  <a:tcPr anchor="ctr">
                    <a:solidFill>
                      <a:srgbClr val="F2F2F2"/>
                    </a:solidFill>
                  </a:tcPr>
                </a:tc>
                <a:tc>
                  <a:txBody>
                    <a:bodyPr/>
                    <a:lstStyle/>
                    <a:p>
                      <a:pPr algn="ctr">
                        <a:defRPr sz="1100">
                          <a:solidFill>
                            <a:srgbClr val="2C3E50"/>
                          </a:solidFill>
                          <a:latin typeface="Calibri"/>
                        </a:defRPr>
                      </a:pPr>
                      <a:r>
                        <a:t>DNLM.L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57200">
                <a:tc>
                  <a:txBody>
                    <a:bodyPr/>
                    <a:lstStyle/>
                    <a:p>
                      <a:pPr algn="l">
                        <a:defRPr sz="1100">
                          <a:solidFill>
                            <a:srgbClr val="2C3E50"/>
                          </a:solidFill>
                          <a:latin typeface="Calibri"/>
                        </a:defRPr>
                      </a:pPr>
                      <a:r>
                        <a:t>WHSmith</a:t>
                      </a:r>
                    </a:p>
                  </a:txBody>
                  <a:tcPr anchor="ctr">
                    <a:solidFill>
                      <a:srgbClr val="FFFFFF"/>
                    </a:solidFill>
                  </a:tcPr>
                </a:tc>
                <a:tc>
                  <a:txBody>
                    <a:bodyPr/>
                    <a:lstStyle/>
                    <a:p>
                      <a:pPr algn="ctr">
                        <a:defRPr sz="1100">
                          <a:solidFill>
                            <a:srgbClr val="2C3E50"/>
                          </a:solidFill>
                          <a:latin typeface="Calibri"/>
                        </a:defRPr>
                      </a:pPr>
                      <a:r>
                        <a:t>SMWH.L</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57200">
                <a:tc>
                  <a:txBody>
                    <a:bodyPr/>
                    <a:lstStyle/>
                    <a:p>
                      <a:pPr algn="l">
                        <a:defRPr sz="1100">
                          <a:solidFill>
                            <a:srgbClr val="2C3E50"/>
                          </a:solidFill>
                          <a:latin typeface="Calibri"/>
                        </a:defRPr>
                      </a:pPr>
                      <a:r>
                        <a:t>Pets at Home</a:t>
                      </a:r>
                    </a:p>
                  </a:txBody>
                  <a:tcPr anchor="ctr">
                    <a:solidFill>
                      <a:srgbClr val="F2F2F2"/>
                    </a:solidFill>
                  </a:tcPr>
                </a:tc>
                <a:tc>
                  <a:txBody>
                    <a:bodyPr/>
                    <a:lstStyle/>
                    <a:p>
                      <a:pPr algn="ctr">
                        <a:defRPr sz="1100">
                          <a:solidFill>
                            <a:srgbClr val="2C3E50"/>
                          </a:solidFill>
                          <a:latin typeface="Calibri"/>
                        </a:defRPr>
                      </a:pPr>
                      <a:r>
                        <a:t>PETS.L</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4. Consumer Spending &amp; Confidence</a:t>
            </a:r>
          </a:p>
        </p:txBody>
      </p:sp>
      <p:sp>
        <p:nvSpPr>
          <p:cNvPr id="5" name="TextBox 4"/>
          <p:cNvSpPr txBox="1"/>
          <p:nvPr/>
        </p:nvSpPr>
        <p:spPr>
          <a:xfrm>
            <a:off x="731520" y="1280160"/>
            <a:ext cx="5029200" cy="365760"/>
          </a:xfrm>
          <a:prstGeom prst="rect">
            <a:avLst/>
          </a:prstGeom>
          <a:noFill/>
        </p:spPr>
        <p:txBody>
          <a:bodyPr wrap="square">
            <a:spAutoFit/>
          </a:bodyPr>
          <a:lstStyle/>
          <a:p>
            <a:pPr algn="l">
              <a:defRPr sz="1800" b="1">
                <a:solidFill>
                  <a:srgbClr val="142D5E"/>
                </a:solidFill>
                <a:latin typeface="Calibri"/>
              </a:defRPr>
            </a:pPr>
            <a:r>
              <a:t>GfK Consumer Confidence Index</a:t>
            </a:r>
          </a:p>
        </p:txBody>
      </p:sp>
      <p:graphicFrame>
        <p:nvGraphicFramePr>
          <p:cNvPr id="6" name="Table 5"/>
          <p:cNvGraphicFramePr>
            <a:graphicFrameLocks noGrp="1"/>
          </p:cNvGraphicFramePr>
          <p:nvPr/>
        </p:nvGraphicFramePr>
        <p:xfrm>
          <a:off x="731520" y="1737360"/>
          <a:ext cx="5029200" cy="1645920"/>
        </p:xfrm>
        <a:graphic>
          <a:graphicData uri="http://schemas.openxmlformats.org/drawingml/2006/table">
            <a:tbl>
              <a:tblPr firstRow="1" bandRow="1">
                <a:tableStyleId>{5C22544A-7EE6-4342-B048-85BDC9FD1C3A}</a:tableStyleId>
              </a:tblPr>
              <a:tblGrid>
                <a:gridCol w="2103120"/>
                <a:gridCol w="1005840"/>
                <a:gridCol w="1005840"/>
                <a:gridCol w="914400"/>
              </a:tblGrid>
              <a:tr h="411480">
                <a:tc>
                  <a:txBody>
                    <a:bodyPr/>
                    <a:lstStyle/>
                    <a:p>
                      <a:pPr algn="ctr">
                        <a:defRPr sz="1100" b="1">
                          <a:solidFill>
                            <a:srgbClr val="FFFFFF"/>
                          </a:solidFill>
                          <a:latin typeface="Calibri"/>
                        </a:defRPr>
                      </a:pPr>
                      <a:r>
                        <a:t>Component</a:t>
                      </a:r>
                    </a:p>
                  </a:txBody>
                  <a:tcPr anchor="ctr">
                    <a:solidFill>
                      <a:srgbClr val="142D5E"/>
                    </a:solidFill>
                  </a:tcPr>
                </a:tc>
                <a:tc>
                  <a:txBody>
                    <a:bodyPr/>
                    <a:lstStyle/>
                    <a:p>
                      <a:pPr algn="ctr">
                        <a:defRPr sz="1100" b="1">
                          <a:solidFill>
                            <a:srgbClr val="FFFFFF"/>
                          </a:solidFill>
                          <a:latin typeface="Calibri"/>
                        </a:defRPr>
                      </a:pPr>
                      <a:r>
                        <a:t>Latest</a:t>
                      </a:r>
                    </a:p>
                  </a:txBody>
                  <a:tcPr anchor="ctr">
                    <a:solidFill>
                      <a:srgbClr val="142D5E"/>
                    </a:solidFill>
                  </a:tcPr>
                </a:tc>
                <a:tc>
                  <a:txBody>
                    <a:bodyPr/>
                    <a:lstStyle/>
                    <a:p>
                      <a:pPr algn="ctr">
                        <a:defRPr sz="1100" b="1">
                          <a:solidFill>
                            <a:srgbClr val="FFFFFF"/>
                          </a:solidFill>
                          <a:latin typeface="Calibri"/>
                        </a:defRPr>
                      </a:pPr>
                      <a:r>
                        <a:t>Prev Month</a:t>
                      </a:r>
                    </a:p>
                  </a:txBody>
                  <a:tcPr anchor="ctr">
                    <a:solidFill>
                      <a:srgbClr val="142D5E"/>
                    </a:solidFill>
                  </a:tcPr>
                </a:tc>
                <a:tc>
                  <a:txBody>
                    <a:bodyPr/>
                    <a:lstStyle/>
                    <a:p>
                      <a:pPr algn="ctr">
                        <a:defRPr sz="1100" b="1">
                          <a:solidFill>
                            <a:srgbClr val="FFFFFF"/>
                          </a:solidFill>
                          <a:latin typeface="Calibri"/>
                        </a:defRPr>
                      </a:pPr>
                      <a:r>
                        <a:t>Trend</a:t>
                      </a:r>
                    </a:p>
                  </a:txBody>
                  <a:tcPr anchor="ctr">
                    <a:solidFill>
                      <a:srgbClr val="142D5E"/>
                    </a:solidFill>
                  </a:tcPr>
                </a:tc>
              </a:tr>
              <a:tr h="411480">
                <a:tc>
                  <a:txBody>
                    <a:bodyPr/>
                    <a:lstStyle/>
                    <a:p>
                      <a:pPr algn="l">
                        <a:defRPr sz="1100">
                          <a:solidFill>
                            <a:srgbClr val="2C3E50"/>
                          </a:solidFill>
                          <a:latin typeface="Calibri"/>
                        </a:defRPr>
                      </a:pPr>
                      <a:r>
                        <a:t>Overall Index</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Personal Financial Situation</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Major Purchase Index</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
        <p:nvSpPr>
          <p:cNvPr id="7" name="TextBox 6"/>
          <p:cNvSpPr txBox="1"/>
          <p:nvPr/>
        </p:nvSpPr>
        <p:spPr>
          <a:xfrm>
            <a:off x="6400800" y="1280160"/>
            <a:ext cx="5029200" cy="365760"/>
          </a:xfrm>
          <a:prstGeom prst="rect">
            <a:avLst/>
          </a:prstGeom>
          <a:noFill/>
        </p:spPr>
        <p:txBody>
          <a:bodyPr wrap="square">
            <a:spAutoFit/>
          </a:bodyPr>
          <a:lstStyle/>
          <a:p>
            <a:pPr algn="l">
              <a:defRPr sz="1800" b="1">
                <a:solidFill>
                  <a:srgbClr val="142D5E"/>
                </a:solidFill>
                <a:latin typeface="Calibri"/>
              </a:defRPr>
            </a:pPr>
            <a:r>
              <a:t>Household Spending Indicators</a:t>
            </a:r>
          </a:p>
        </p:txBody>
      </p:sp>
      <p:sp>
        <p:nvSpPr>
          <p:cNvPr id="8" name="Rectangle 7"/>
          <p:cNvSpPr/>
          <p:nvPr/>
        </p:nvSpPr>
        <p:spPr>
          <a:xfrm>
            <a:off x="6400800" y="1828800"/>
            <a:ext cx="5029200" cy="6400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3200400" cy="457200"/>
          </a:xfrm>
          <a:prstGeom prst="rect">
            <a:avLst/>
          </a:prstGeom>
          <a:noFill/>
        </p:spPr>
        <p:txBody>
          <a:bodyPr wrap="square">
            <a:spAutoFit/>
          </a:bodyPr>
          <a:lstStyle/>
          <a:p>
            <a:pPr algn="l">
              <a:defRPr sz="1400" b="0">
                <a:solidFill>
                  <a:srgbClr val="2C3E50"/>
                </a:solidFill>
                <a:latin typeface="Calibri"/>
              </a:defRPr>
            </a:pPr>
            <a:r>
              <a:t>Avg Weekly Earnings Growth (real)</a:t>
            </a:r>
          </a:p>
        </p:txBody>
      </p:sp>
      <p:sp>
        <p:nvSpPr>
          <p:cNvPr id="10" name="TextBox 9"/>
          <p:cNvSpPr txBox="1"/>
          <p:nvPr/>
        </p:nvSpPr>
        <p:spPr>
          <a:xfrm>
            <a:off x="9601200" y="1920240"/>
            <a:ext cx="1645920" cy="457200"/>
          </a:xfrm>
          <a:prstGeom prst="rect">
            <a:avLst/>
          </a:prstGeom>
          <a:noFill/>
        </p:spPr>
        <p:txBody>
          <a:bodyPr wrap="square">
            <a:spAutoFit/>
          </a:bodyPr>
          <a:lstStyle/>
          <a:p>
            <a:pPr algn="ctr">
              <a:defRPr sz="1600" b="1">
                <a:solidFill>
                  <a:srgbClr val="142D5E"/>
                </a:solidFill>
                <a:latin typeface="Calibri"/>
              </a:defRPr>
            </a:pPr>
            <a:r>
              <a:t>—</a:t>
            </a:r>
          </a:p>
        </p:txBody>
      </p:sp>
      <p:sp>
        <p:nvSpPr>
          <p:cNvPr id="11" name="Rectangle 10"/>
          <p:cNvSpPr/>
          <p:nvPr/>
        </p:nvSpPr>
        <p:spPr>
          <a:xfrm>
            <a:off x="6400800" y="2606040"/>
            <a:ext cx="5029200" cy="6400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697480"/>
            <a:ext cx="3200400" cy="457200"/>
          </a:xfrm>
          <a:prstGeom prst="rect">
            <a:avLst/>
          </a:prstGeom>
          <a:noFill/>
        </p:spPr>
        <p:txBody>
          <a:bodyPr wrap="square">
            <a:spAutoFit/>
          </a:bodyPr>
          <a:lstStyle/>
          <a:p>
            <a:pPr algn="l">
              <a:defRPr sz="1400" b="0">
                <a:solidFill>
                  <a:srgbClr val="2C3E50"/>
                </a:solidFill>
                <a:latin typeface="Calibri"/>
              </a:defRPr>
            </a:pPr>
            <a:r>
              <a:t>Household Savings Ratio</a:t>
            </a:r>
          </a:p>
        </p:txBody>
      </p:sp>
      <p:sp>
        <p:nvSpPr>
          <p:cNvPr id="13" name="TextBox 12"/>
          <p:cNvSpPr txBox="1"/>
          <p:nvPr/>
        </p:nvSpPr>
        <p:spPr>
          <a:xfrm>
            <a:off x="9601200" y="2697480"/>
            <a:ext cx="1645920" cy="457200"/>
          </a:xfrm>
          <a:prstGeom prst="rect">
            <a:avLst/>
          </a:prstGeom>
          <a:noFill/>
        </p:spPr>
        <p:txBody>
          <a:bodyPr wrap="square">
            <a:spAutoFit/>
          </a:bodyPr>
          <a:lstStyle/>
          <a:p>
            <a:pPr algn="ctr">
              <a:defRPr sz="1600" b="1">
                <a:solidFill>
                  <a:srgbClr val="142D5E"/>
                </a:solidFill>
                <a:latin typeface="Calibri"/>
              </a:defRPr>
            </a:pPr>
            <a:r>
              <a:t>—</a:t>
            </a:r>
          </a:p>
        </p:txBody>
      </p:sp>
      <p:sp>
        <p:nvSpPr>
          <p:cNvPr id="14" name="Rectangle 13"/>
          <p:cNvSpPr/>
          <p:nvPr/>
        </p:nvSpPr>
        <p:spPr>
          <a:xfrm>
            <a:off x="6400800" y="3383280"/>
            <a:ext cx="5029200" cy="6400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474720"/>
            <a:ext cx="3200400" cy="457200"/>
          </a:xfrm>
          <a:prstGeom prst="rect">
            <a:avLst/>
          </a:prstGeom>
          <a:noFill/>
        </p:spPr>
        <p:txBody>
          <a:bodyPr wrap="square">
            <a:spAutoFit/>
          </a:bodyPr>
          <a:lstStyle/>
          <a:p>
            <a:pPr algn="l">
              <a:defRPr sz="1400" b="0">
                <a:solidFill>
                  <a:srgbClr val="2C3E50"/>
                </a:solidFill>
                <a:latin typeface="Calibri"/>
              </a:defRPr>
            </a:pPr>
            <a:r>
              <a:t>Consumer Credit Growth</a:t>
            </a:r>
          </a:p>
        </p:txBody>
      </p:sp>
      <p:sp>
        <p:nvSpPr>
          <p:cNvPr id="16" name="TextBox 15"/>
          <p:cNvSpPr txBox="1"/>
          <p:nvPr/>
        </p:nvSpPr>
        <p:spPr>
          <a:xfrm>
            <a:off x="9601200" y="3474720"/>
            <a:ext cx="1645920" cy="457200"/>
          </a:xfrm>
          <a:prstGeom prst="rect">
            <a:avLst/>
          </a:prstGeom>
          <a:noFill/>
        </p:spPr>
        <p:txBody>
          <a:bodyPr wrap="square">
            <a:spAutoFit/>
          </a:bodyPr>
          <a:lstStyle/>
          <a:p>
            <a:pPr algn="ctr">
              <a:defRPr sz="1600" b="1">
                <a:solidFill>
                  <a:srgbClr val="142D5E"/>
                </a:solidFill>
                <a:latin typeface="Calibri"/>
              </a:defRPr>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5. Macroeconomic Factors</a:t>
            </a:r>
          </a:p>
        </p:txBody>
      </p:sp>
      <p:graphicFrame>
        <p:nvGraphicFramePr>
          <p:cNvPr id="5" name="Table 4"/>
          <p:cNvGraphicFramePr>
            <a:graphicFrameLocks noGrp="1"/>
          </p:cNvGraphicFramePr>
          <p:nvPr/>
        </p:nvGraphicFramePr>
        <p:xfrm>
          <a:off x="731520" y="1463040"/>
          <a:ext cx="10698480" cy="2880360"/>
        </p:xfrm>
        <a:graphic>
          <a:graphicData uri="http://schemas.openxmlformats.org/drawingml/2006/table">
            <a:tbl>
              <a:tblPr firstRow="1" bandRow="1">
                <a:tableStyleId>{5C22544A-7EE6-4342-B048-85BDC9FD1C3A}</a:tableStyleId>
              </a:tblPr>
              <a:tblGrid>
                <a:gridCol w="3657600"/>
                <a:gridCol w="1828800"/>
                <a:gridCol w="5212080"/>
              </a:tblGrid>
              <a:tr h="411480">
                <a:tc>
                  <a:txBody>
                    <a:bodyPr/>
                    <a:lstStyle/>
                    <a:p>
                      <a:pPr algn="ctr">
                        <a:defRPr sz="1100" b="1">
                          <a:solidFill>
                            <a:srgbClr val="FFFFFF"/>
                          </a:solidFill>
                          <a:latin typeface="Calibri"/>
                        </a:defRPr>
                      </a:pPr>
                      <a:r>
                        <a:t>Indicator</a:t>
                      </a:r>
                    </a:p>
                  </a:txBody>
                  <a:tcPr anchor="ctr">
                    <a:solidFill>
                      <a:srgbClr val="142D5E"/>
                    </a:solidFill>
                  </a:tcPr>
                </a:tc>
                <a:tc>
                  <a:txBody>
                    <a:bodyPr/>
                    <a:lstStyle/>
                    <a:p>
                      <a:pPr algn="ctr">
                        <a:defRPr sz="1100" b="1">
                          <a:solidFill>
                            <a:srgbClr val="FFFFFF"/>
                          </a:solidFill>
                          <a:latin typeface="Calibri"/>
                        </a:defRPr>
                      </a:pPr>
                      <a:r>
                        <a:t>Latest</a:t>
                      </a:r>
                    </a:p>
                  </a:txBody>
                  <a:tcPr anchor="ctr">
                    <a:solidFill>
                      <a:srgbClr val="142D5E"/>
                    </a:solidFill>
                  </a:tcPr>
                </a:tc>
                <a:tc>
                  <a:txBody>
                    <a:bodyPr/>
                    <a:lstStyle/>
                    <a:p>
                      <a:pPr algn="ctr">
                        <a:defRPr sz="1100" b="1">
                          <a:solidFill>
                            <a:srgbClr val="FFFFFF"/>
                          </a:solidFill>
                          <a:latin typeface="Calibri"/>
                        </a:defRPr>
                      </a:pPr>
                      <a:r>
                        <a:t>Impact on Retail</a:t>
                      </a:r>
                    </a:p>
                  </a:txBody>
                  <a:tcPr anchor="ctr">
                    <a:solidFill>
                      <a:srgbClr val="142D5E"/>
                    </a:solidFill>
                  </a:tcPr>
                </a:tc>
              </a:tr>
              <a:tr h="411480">
                <a:tc>
                  <a:txBody>
                    <a:bodyPr/>
                    <a:lstStyle/>
                    <a:p>
                      <a:pPr algn="l">
                        <a:defRPr sz="1100">
                          <a:solidFill>
                            <a:srgbClr val="2C3E50"/>
                          </a:solidFill>
                          <a:latin typeface="Calibri"/>
                        </a:defRPr>
                      </a:pPr>
                      <a:r>
                        <a:t>CPI Inflation (%)</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BoE Base Rate (%)</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GBP/USD</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GBP/EUR</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UK Unemployment Rate (%)</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UK GDP Growth (quarterly, %)</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bl>
          </a:graphicData>
        </a:graphic>
      </p:graphicFrame>
      <p:sp>
        <p:nvSpPr>
          <p:cNvPr id="6" name="TextBox 5"/>
          <p:cNvSpPr txBox="1"/>
          <p:nvPr/>
        </p:nvSpPr>
        <p:spPr>
          <a:xfrm>
            <a:off x="731520" y="4937760"/>
            <a:ext cx="10515600" cy="365760"/>
          </a:xfrm>
          <a:prstGeom prst="rect">
            <a:avLst/>
          </a:prstGeom>
          <a:noFill/>
        </p:spPr>
        <p:txBody>
          <a:bodyPr wrap="square">
            <a:spAutoFit/>
          </a:bodyPr>
          <a:lstStyle/>
          <a:p>
            <a:pPr algn="l">
              <a:defRPr sz="1800" b="1">
                <a:solidFill>
                  <a:srgbClr val="142D5E"/>
                </a:solidFill>
                <a:latin typeface="Calibri"/>
              </a:defRPr>
            </a:pPr>
            <a:r>
              <a:t>Commentary</a:t>
            </a:r>
          </a:p>
        </p:txBody>
      </p:sp>
      <p:sp>
        <p:nvSpPr>
          <p:cNvPr id="7" name="TextBox 6"/>
          <p:cNvSpPr txBox="1"/>
          <p:nvPr/>
        </p:nvSpPr>
        <p:spPr>
          <a:xfrm>
            <a:off x="731520" y="5394960"/>
            <a:ext cx="10515600" cy="1097280"/>
          </a:xfrm>
          <a:prstGeom prst="rect">
            <a:avLst/>
          </a:prstGeom>
          <a:noFill/>
        </p:spPr>
        <p:txBody>
          <a:bodyPr wrap="square">
            <a:spAutoFit/>
          </a:bodyPr>
          <a:lstStyle/>
          <a:p>
            <a:pPr algn="l">
              <a:defRPr sz="1300" b="0">
                <a:solidFill>
                  <a:srgbClr val="2C3E50"/>
                </a:solidFill>
                <a:latin typeface="Calibri"/>
              </a:defRPr>
            </a:pPr>
            <a:r>
              <a:t>•  Inflation: [Analysis of how current inflation trends affect retail margins and consumer purchasing power.]</a:t>
            </a:r>
            <a:br/>
            <a:r>
              <a:t>•  Interest Rates: [Impact of BoE monetary policy on consumer borrowing and discretionary spending.]</a:t>
            </a:r>
            <a:br/>
            <a:r>
              <a:t>•  Currency: [How GBP movements affect import costs for retailers sourcing internationally.]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6. E-commerce &amp; Digital Trends</a:t>
            </a:r>
          </a:p>
        </p:txBody>
      </p:sp>
      <p:graphicFrame>
        <p:nvGraphicFramePr>
          <p:cNvPr id="5" name="Table 4"/>
          <p:cNvGraphicFramePr>
            <a:graphicFrameLocks noGrp="1"/>
          </p:cNvGraphicFramePr>
          <p:nvPr/>
        </p:nvGraphicFramePr>
        <p:xfrm>
          <a:off x="731520" y="1463040"/>
          <a:ext cx="5486400" cy="1645920"/>
        </p:xfrm>
        <a:graphic>
          <a:graphicData uri="http://schemas.openxmlformats.org/drawingml/2006/table">
            <a:tbl>
              <a:tblPr firstRow="1" bandRow="1">
                <a:tableStyleId>{5C22544A-7EE6-4342-B048-85BDC9FD1C3A}</a:tableStyleId>
              </a:tblPr>
              <a:tblGrid>
                <a:gridCol w="2743200"/>
                <a:gridCol w="1371600"/>
                <a:gridCol w="1371600"/>
              </a:tblGrid>
              <a:tr h="411480">
                <a:tc>
                  <a:txBody>
                    <a:bodyPr/>
                    <a:lstStyle/>
                    <a:p>
                      <a:pPr algn="ctr">
                        <a:defRPr sz="1100" b="1">
                          <a:solidFill>
                            <a:srgbClr val="FFFFFF"/>
                          </a:solidFill>
                          <a:latin typeface="Calibri"/>
                        </a:defRPr>
                      </a:pPr>
                      <a:r>
                        <a:t>Metric</a:t>
                      </a:r>
                    </a:p>
                  </a:txBody>
                  <a:tcPr anchor="ctr">
                    <a:solidFill>
                      <a:srgbClr val="142D5E"/>
                    </a:solidFill>
                  </a:tcPr>
                </a:tc>
                <a:tc>
                  <a:txBody>
                    <a:bodyPr/>
                    <a:lstStyle/>
                    <a:p>
                      <a:pPr algn="ctr">
                        <a:defRPr sz="1100" b="1">
                          <a:solidFill>
                            <a:srgbClr val="FFFFFF"/>
                          </a:solidFill>
                          <a:latin typeface="Calibri"/>
                        </a:defRPr>
                      </a:pPr>
                      <a:r>
                        <a:t>Latest</a:t>
                      </a:r>
                    </a:p>
                  </a:txBody>
                  <a:tcPr anchor="ctr">
                    <a:solidFill>
                      <a:srgbClr val="142D5E"/>
                    </a:solidFill>
                  </a:tcPr>
                </a:tc>
                <a:tc>
                  <a:txBody>
                    <a:bodyPr/>
                    <a:lstStyle/>
                    <a:p>
                      <a:pPr algn="ctr">
                        <a:defRPr sz="1100" b="1">
                          <a:solidFill>
                            <a:srgbClr val="FFFFFF"/>
                          </a:solidFill>
                          <a:latin typeface="Calibri"/>
                        </a:defRPr>
                      </a:pPr>
                      <a:r>
                        <a:t>Trend</a:t>
                      </a:r>
                    </a:p>
                  </a:txBody>
                  <a:tcPr anchor="ctr">
                    <a:solidFill>
                      <a:srgbClr val="142D5E"/>
                    </a:solidFill>
                  </a:tcPr>
                </a:tc>
              </a:tr>
              <a:tr h="411480">
                <a:tc>
                  <a:txBody>
                    <a:bodyPr/>
                    <a:lstStyle/>
                    <a:p>
                      <a:pPr algn="l">
                        <a:defRPr sz="1100">
                          <a:solidFill>
                            <a:srgbClr val="2C3E50"/>
                          </a:solidFill>
                          <a:latin typeface="Calibri"/>
                        </a:defRPr>
                      </a:pPr>
                      <a:r>
                        <a:t>Online share of total retail (%)</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IMRG Online Retail Index</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Mobile commerce share (%)</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
        <p:nvSpPr>
          <p:cNvPr id="6" name="TextBox 5"/>
          <p:cNvSpPr txBox="1"/>
          <p:nvPr/>
        </p:nvSpPr>
        <p:spPr>
          <a:xfrm>
            <a:off x="731520" y="3657600"/>
            <a:ext cx="10515600" cy="365760"/>
          </a:xfrm>
          <a:prstGeom prst="rect">
            <a:avLst/>
          </a:prstGeom>
          <a:noFill/>
        </p:spPr>
        <p:txBody>
          <a:bodyPr wrap="square">
            <a:spAutoFit/>
          </a:bodyPr>
          <a:lstStyle/>
          <a:p>
            <a:pPr algn="l">
              <a:defRPr sz="1800" b="1">
                <a:solidFill>
                  <a:srgbClr val="142D5E"/>
                </a:solidFill>
                <a:latin typeface="Calibri"/>
              </a:defRPr>
            </a:pPr>
            <a:r>
              <a:t>Key Digital Developments</a:t>
            </a:r>
          </a:p>
        </p:txBody>
      </p:sp>
      <p:sp>
        <p:nvSpPr>
          <p:cNvPr id="7" name="TextBox 6"/>
          <p:cNvSpPr txBox="1"/>
          <p:nvPr/>
        </p:nvSpPr>
        <p:spPr>
          <a:xfrm>
            <a:off x="731520" y="4114800"/>
            <a:ext cx="10515600" cy="1828800"/>
          </a:xfrm>
          <a:prstGeom prst="rect">
            <a:avLst/>
          </a:prstGeom>
          <a:noFill/>
        </p:spPr>
        <p:txBody>
          <a:bodyPr wrap="square">
            <a:spAutoFit/>
          </a:bodyPr>
          <a:lstStyle/>
          <a:p>
            <a:pPr algn="l">
              <a:defRPr sz="1400" b="0">
                <a:solidFill>
                  <a:srgbClr val="2C3E50"/>
                </a:solidFill>
                <a:latin typeface="Calibri"/>
              </a:defRPr>
            </a:pPr>
            <a:r>
              <a:t>•  [Notable digital / e-commerce developments in UK retail this month.]</a:t>
            </a:r>
            <a:br/>
            <a:r>
              <a:t>•  [New platform launches, delivery innovations, technology investments.]</a:t>
            </a:r>
            <a:br/>
            <a:r>
              <a:t>•  [Changes in online vs in-store shopping behaviour.]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7. Sector Risks &amp; Watchlist</a:t>
            </a:r>
          </a:p>
        </p:txBody>
      </p:sp>
      <p:graphicFrame>
        <p:nvGraphicFramePr>
          <p:cNvPr id="5" name="Table 4"/>
          <p:cNvGraphicFramePr>
            <a:graphicFrameLocks noGrp="1"/>
          </p:cNvGraphicFramePr>
          <p:nvPr/>
        </p:nvGraphicFramePr>
        <p:xfrm>
          <a:off x="731520" y="1463040"/>
          <a:ext cx="10698480" cy="2468880"/>
        </p:xfrm>
        <a:graphic>
          <a:graphicData uri="http://schemas.openxmlformats.org/drawingml/2006/table">
            <a:tbl>
              <a:tblPr firstRow="1" bandRow="1">
                <a:tableStyleId>{5C22544A-7EE6-4342-B048-85BDC9FD1C3A}</a:tableStyleId>
              </a:tblPr>
              <a:tblGrid>
                <a:gridCol w="3200400"/>
                <a:gridCol w="1554480"/>
                <a:gridCol w="5943600"/>
              </a:tblGrid>
              <a:tr h="411480">
                <a:tc>
                  <a:txBody>
                    <a:bodyPr/>
                    <a:lstStyle/>
                    <a:p>
                      <a:pPr algn="ctr">
                        <a:defRPr sz="1100" b="1">
                          <a:solidFill>
                            <a:srgbClr val="FFFFFF"/>
                          </a:solidFill>
                          <a:latin typeface="Calibri"/>
                        </a:defRPr>
                      </a:pPr>
                      <a:r>
                        <a:t>Risk Factor</a:t>
                      </a:r>
                    </a:p>
                  </a:txBody>
                  <a:tcPr anchor="ctr">
                    <a:solidFill>
                      <a:srgbClr val="142D5E"/>
                    </a:solidFill>
                  </a:tcPr>
                </a:tc>
                <a:tc>
                  <a:txBody>
                    <a:bodyPr/>
                    <a:lstStyle/>
                    <a:p>
                      <a:pPr algn="ctr">
                        <a:defRPr sz="1100" b="1">
                          <a:solidFill>
                            <a:srgbClr val="FFFFFF"/>
                          </a:solidFill>
                          <a:latin typeface="Calibri"/>
                        </a:defRPr>
                      </a:pPr>
                      <a:r>
                        <a:t>Severity</a:t>
                      </a:r>
                    </a:p>
                  </a:txBody>
                  <a:tcPr anchor="ctr">
                    <a:solidFill>
                      <a:srgbClr val="142D5E"/>
                    </a:solidFill>
                  </a:tcPr>
                </a:tc>
                <a:tc>
                  <a:txBody>
                    <a:bodyPr/>
                    <a:lstStyle/>
                    <a:p>
                      <a:pPr algn="ctr">
                        <a:defRPr sz="1100" b="1">
                          <a:solidFill>
                            <a:srgbClr val="FFFFFF"/>
                          </a:solidFill>
                          <a:latin typeface="Calibri"/>
                        </a:defRPr>
                      </a:pPr>
                      <a:r>
                        <a:t>Commentary</a:t>
                      </a:r>
                    </a:p>
                  </a:txBody>
                  <a:tcPr anchor="ctr">
                    <a:solidFill>
                      <a:srgbClr val="142D5E"/>
                    </a:solidFill>
                  </a:tcPr>
                </a:tc>
              </a:tr>
              <a:tr h="411480">
                <a:tc>
                  <a:txBody>
                    <a:bodyPr/>
                    <a:lstStyle/>
                    <a:p>
                      <a:pPr algn="l">
                        <a:defRPr sz="1100">
                          <a:solidFill>
                            <a:srgbClr val="2C3E50"/>
                          </a:solidFill>
                          <a:latin typeface="Calibri"/>
                        </a:defRPr>
                      </a:pPr>
                      <a:r>
                        <a:t>Cost-of-living pressures</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Supply chain disruption</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Business rates / regulatory changes</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Labour market tightness</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Geopolitical / trade policy risk</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
        <p:nvSpPr>
          <p:cNvPr id="6" name="TextBox 5"/>
          <p:cNvSpPr txBox="1"/>
          <p:nvPr/>
        </p:nvSpPr>
        <p:spPr>
          <a:xfrm>
            <a:off x="731520" y="4389120"/>
            <a:ext cx="10515600" cy="365760"/>
          </a:xfrm>
          <a:prstGeom prst="rect">
            <a:avLst/>
          </a:prstGeom>
          <a:noFill/>
        </p:spPr>
        <p:txBody>
          <a:bodyPr wrap="square">
            <a:spAutoFit/>
          </a:bodyPr>
          <a:lstStyle/>
          <a:p>
            <a:pPr algn="l">
              <a:defRPr sz="1800" b="1">
                <a:solidFill>
                  <a:srgbClr val="142D5E"/>
                </a:solidFill>
                <a:latin typeface="Calibri"/>
              </a:defRPr>
            </a:pPr>
            <a:r>
              <a:t>Companies to Watch</a:t>
            </a:r>
          </a:p>
        </p:txBody>
      </p:sp>
      <p:sp>
        <p:nvSpPr>
          <p:cNvPr id="7" name="TextBox 6"/>
          <p:cNvSpPr txBox="1"/>
          <p:nvPr/>
        </p:nvSpPr>
        <p:spPr>
          <a:xfrm>
            <a:off x="731520" y="4846320"/>
            <a:ext cx="10515600" cy="1371600"/>
          </a:xfrm>
          <a:prstGeom prst="rect">
            <a:avLst/>
          </a:prstGeom>
          <a:noFill/>
        </p:spPr>
        <p:txBody>
          <a:bodyPr wrap="square">
            <a:spAutoFit/>
          </a:bodyPr>
          <a:lstStyle/>
          <a:p>
            <a:pPr algn="l">
              <a:defRPr sz="1400" b="0">
                <a:solidFill>
                  <a:srgbClr val="2C3E50"/>
                </a:solidFill>
                <a:latin typeface="Calibri"/>
              </a:defRPr>
            </a:pPr>
            <a:r>
              <a:t>•  [Company]: [Reason — e.g., upcoming earnings, profit warning, M&amp;A activity.]</a:t>
            </a:r>
            <a:br/>
            <a:r>
              <a:t>•  [Company]: [Reason — e.g., management change, strategic review.]</a:t>
            </a:r>
            <a:br/>
            <a:r>
              <a:t>•  [Company]: [Reason — e.g., market share shift, new store programme.]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8. Outlook &amp; Analyst Consensus</a:t>
            </a:r>
          </a:p>
        </p:txBody>
      </p:sp>
      <p:graphicFrame>
        <p:nvGraphicFramePr>
          <p:cNvPr id="5" name="Table 4"/>
          <p:cNvGraphicFramePr>
            <a:graphicFrameLocks noGrp="1"/>
          </p:cNvGraphicFramePr>
          <p:nvPr/>
        </p:nvGraphicFramePr>
        <p:xfrm>
          <a:off x="731520" y="1463040"/>
          <a:ext cx="10698480" cy="1645920"/>
        </p:xfrm>
        <a:graphic>
          <a:graphicData uri="http://schemas.openxmlformats.org/drawingml/2006/table">
            <a:tbl>
              <a:tblPr firstRow="1" bandRow="1">
                <a:tableStyleId>{5C22544A-7EE6-4342-B048-85BDC9FD1C3A}</a:tableStyleId>
              </a:tblPr>
              <a:tblGrid>
                <a:gridCol w="3200400"/>
                <a:gridCol w="2011680"/>
                <a:gridCol w="2011680"/>
                <a:gridCol w="3474720"/>
              </a:tblGrid>
              <a:tr h="411480">
                <a:tc>
                  <a:txBody>
                    <a:bodyPr/>
                    <a:lstStyle/>
                    <a:p>
                      <a:pPr algn="ctr">
                        <a:defRPr sz="1100" b="1">
                          <a:solidFill>
                            <a:srgbClr val="FFFFFF"/>
                          </a:solidFill>
                          <a:latin typeface="Calibri"/>
                        </a:defRPr>
                      </a:pPr>
                      <a:r>
                        <a:t>Metric</a:t>
                      </a:r>
                    </a:p>
                  </a:txBody>
                  <a:tcPr anchor="ctr">
                    <a:solidFill>
                      <a:srgbClr val="142D5E"/>
                    </a:solidFill>
                  </a:tcPr>
                </a:tc>
                <a:tc>
                  <a:txBody>
                    <a:bodyPr/>
                    <a:lstStyle/>
                    <a:p>
                      <a:pPr algn="ctr">
                        <a:defRPr sz="1100" b="1">
                          <a:solidFill>
                            <a:srgbClr val="FFFFFF"/>
                          </a:solidFill>
                          <a:latin typeface="Calibri"/>
                        </a:defRPr>
                      </a:pPr>
                      <a:r>
                        <a:t>Q2 2026 Est.</a:t>
                      </a:r>
                    </a:p>
                  </a:txBody>
                  <a:tcPr anchor="ctr">
                    <a:solidFill>
                      <a:srgbClr val="142D5E"/>
                    </a:solidFill>
                  </a:tcPr>
                </a:tc>
                <a:tc>
                  <a:txBody>
                    <a:bodyPr/>
                    <a:lstStyle/>
                    <a:p>
                      <a:pPr algn="ctr">
                        <a:defRPr sz="1100" b="1">
                          <a:solidFill>
                            <a:srgbClr val="FFFFFF"/>
                          </a:solidFill>
                          <a:latin typeface="Calibri"/>
                        </a:defRPr>
                      </a:pPr>
                      <a:r>
                        <a:t>H2 2026 Est.</a:t>
                      </a:r>
                    </a:p>
                  </a:txBody>
                  <a:tcPr anchor="ctr">
                    <a:solidFill>
                      <a:srgbClr val="142D5E"/>
                    </a:solidFill>
                  </a:tcPr>
                </a:tc>
                <a:tc>
                  <a:txBody>
                    <a:bodyPr/>
                    <a:lstStyle/>
                    <a:p>
                      <a:pPr algn="ctr">
                        <a:defRPr sz="1100" b="1">
                          <a:solidFill>
                            <a:srgbClr val="FFFFFF"/>
                          </a:solidFill>
                          <a:latin typeface="Calibri"/>
                        </a:defRPr>
                      </a:pPr>
                      <a:r>
                        <a:t>Commentary</a:t>
                      </a:r>
                    </a:p>
                  </a:txBody>
                  <a:tcPr anchor="ctr">
                    <a:solidFill>
                      <a:srgbClr val="142D5E"/>
                    </a:solidFill>
                  </a:tcPr>
                </a:tc>
              </a:tr>
              <a:tr h="411480">
                <a:tc>
                  <a:txBody>
                    <a:bodyPr/>
                    <a:lstStyle/>
                    <a:p>
                      <a:pPr algn="l">
                        <a:defRPr sz="1100">
                          <a:solidFill>
                            <a:srgbClr val="2C3E50"/>
                          </a:solidFill>
                          <a:latin typeface="Calibri"/>
                        </a:defRPr>
                      </a:pPr>
                      <a:r>
                        <a:t>UK Retail Sales Growth (%)</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r h="411480">
                <a:tc>
                  <a:txBody>
                    <a:bodyPr/>
                    <a:lstStyle/>
                    <a:p>
                      <a:pPr algn="l">
                        <a:defRPr sz="1100">
                          <a:solidFill>
                            <a:srgbClr val="2C3E50"/>
                          </a:solidFill>
                          <a:latin typeface="Calibri"/>
                        </a:defRPr>
                      </a:pPr>
                      <a:r>
                        <a:t>Sector EPS Growth (%)</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c>
                  <a:txBody>
                    <a:bodyPr/>
                    <a:lstStyle/>
                    <a:p>
                      <a:pPr algn="ctr">
                        <a:defRPr sz="1100">
                          <a:solidFill>
                            <a:srgbClr val="2C3E50"/>
                          </a:solidFill>
                          <a:latin typeface="Calibri"/>
                        </a:defRPr>
                      </a:pPr>
                      <a:r>
                        <a:t>—</a:t>
                      </a:r>
                    </a:p>
                  </a:txBody>
                  <a:tcPr anchor="ctr">
                    <a:solidFill>
                      <a:srgbClr val="F2F2F2"/>
                    </a:solidFill>
                  </a:tcPr>
                </a:tc>
              </a:tr>
              <a:tr h="411480">
                <a:tc>
                  <a:txBody>
                    <a:bodyPr/>
                    <a:lstStyle/>
                    <a:p>
                      <a:pPr algn="l">
                        <a:defRPr sz="1100">
                          <a:solidFill>
                            <a:srgbClr val="2C3E50"/>
                          </a:solidFill>
                          <a:latin typeface="Calibri"/>
                        </a:defRPr>
                      </a:pPr>
                      <a:r>
                        <a:t>Consumer Confidence Direction</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c>
                  <a:txBody>
                    <a:bodyPr/>
                    <a:lstStyle/>
                    <a:p>
                      <a:pPr algn="ctr">
                        <a:defRPr sz="1100">
                          <a:solidFill>
                            <a:srgbClr val="2C3E50"/>
                          </a:solidFill>
                          <a:latin typeface="Calibri"/>
                        </a:defRPr>
                      </a:pPr>
                      <a:r>
                        <a:t>—</a:t>
                      </a:r>
                    </a:p>
                  </a:txBody>
                  <a:tcPr anchor="ctr">
                    <a:solidFill>
                      <a:srgbClr val="FFFFFF"/>
                    </a:solidFill>
                  </a:tcPr>
                </a:tc>
              </a:tr>
            </a:tbl>
          </a:graphicData>
        </a:graphic>
      </p:graphicFrame>
      <p:sp>
        <p:nvSpPr>
          <p:cNvPr id="6" name="TextBox 5"/>
          <p:cNvSpPr txBox="1"/>
          <p:nvPr/>
        </p:nvSpPr>
        <p:spPr>
          <a:xfrm>
            <a:off x="731520" y="3474720"/>
            <a:ext cx="10515600" cy="365760"/>
          </a:xfrm>
          <a:prstGeom prst="rect">
            <a:avLst/>
          </a:prstGeom>
          <a:noFill/>
        </p:spPr>
        <p:txBody>
          <a:bodyPr wrap="square">
            <a:spAutoFit/>
          </a:bodyPr>
          <a:lstStyle/>
          <a:p>
            <a:pPr algn="l">
              <a:defRPr sz="1800" b="1">
                <a:solidFill>
                  <a:srgbClr val="142D5E"/>
                </a:solidFill>
                <a:latin typeface="Calibri"/>
              </a:defRPr>
            </a:pPr>
            <a:r>
              <a:t>Analyst Commentary</a:t>
            </a:r>
          </a:p>
        </p:txBody>
      </p:sp>
      <p:sp>
        <p:nvSpPr>
          <p:cNvPr id="7" name="Rectangle 6"/>
          <p:cNvSpPr/>
          <p:nvPr/>
        </p:nvSpPr>
        <p:spPr>
          <a:xfrm>
            <a:off x="731520" y="3931920"/>
            <a:ext cx="10515600" cy="20116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114800"/>
            <a:ext cx="9784080" cy="1645920"/>
          </a:xfrm>
          <a:prstGeom prst="rect">
            <a:avLst/>
          </a:prstGeom>
          <a:noFill/>
        </p:spPr>
        <p:txBody>
          <a:bodyPr wrap="square">
            <a:spAutoFit/>
          </a:bodyPr>
          <a:lstStyle/>
          <a:p>
            <a:pPr algn="l">
              <a:defRPr sz="1400" b="0">
                <a:solidFill>
                  <a:srgbClr val="2C3E50"/>
                </a:solidFill>
                <a:latin typeface="Calibri"/>
              </a:defRPr>
            </a:pPr>
            <a:r>
              <a:t>"[Placeholder for curated analyst quotes and consensus views on UK retail sector outlook for the coming quarter.]"</a:t>
            </a:r>
            <a:br/>
            <a:br/>
            <a:r>
              <a:t>— Analyst Name, Firm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1B6B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10972800" cy="640080"/>
          </a:xfrm>
          <a:prstGeom prst="rect">
            <a:avLst/>
          </a:prstGeom>
          <a:noFill/>
        </p:spPr>
        <p:txBody>
          <a:bodyPr wrap="square">
            <a:spAutoFit/>
          </a:bodyPr>
          <a:lstStyle/>
          <a:p>
            <a:pPr algn="l">
              <a:defRPr sz="2800" b="1">
                <a:solidFill>
                  <a:srgbClr val="FFFFFF"/>
                </a:solidFill>
                <a:latin typeface="Calibri"/>
              </a:defRPr>
            </a:pPr>
            <a:r>
              <a:t>Data Sources &amp; Disclaimer</a:t>
            </a:r>
          </a:p>
        </p:txBody>
      </p:sp>
      <p:sp>
        <p:nvSpPr>
          <p:cNvPr id="5" name="TextBox 4"/>
          <p:cNvSpPr txBox="1"/>
          <p:nvPr/>
        </p:nvSpPr>
        <p:spPr>
          <a:xfrm>
            <a:off x="914400" y="1371600"/>
            <a:ext cx="3200400" cy="320040"/>
          </a:xfrm>
          <a:prstGeom prst="rect">
            <a:avLst/>
          </a:prstGeom>
          <a:noFill/>
        </p:spPr>
        <p:txBody>
          <a:bodyPr wrap="square">
            <a:spAutoFit/>
          </a:bodyPr>
          <a:lstStyle/>
          <a:p>
            <a:pPr algn="l">
              <a:defRPr sz="1300" b="1">
                <a:solidFill>
                  <a:srgbClr val="142D5E"/>
                </a:solidFill>
                <a:latin typeface="Calibri"/>
              </a:defRPr>
            </a:pPr>
            <a:r>
              <a:t>Office for National Statistics (ONS)</a:t>
            </a:r>
          </a:p>
        </p:txBody>
      </p:sp>
      <p:sp>
        <p:nvSpPr>
          <p:cNvPr id="6" name="TextBox 5"/>
          <p:cNvSpPr txBox="1"/>
          <p:nvPr/>
        </p:nvSpPr>
        <p:spPr>
          <a:xfrm>
            <a:off x="4206240" y="1371600"/>
            <a:ext cx="6400800" cy="320040"/>
          </a:xfrm>
          <a:prstGeom prst="rect">
            <a:avLst/>
          </a:prstGeom>
          <a:noFill/>
        </p:spPr>
        <p:txBody>
          <a:bodyPr wrap="square">
            <a:spAutoFit/>
          </a:bodyPr>
          <a:lstStyle/>
          <a:p>
            <a:pPr algn="l">
              <a:defRPr sz="1300" b="0">
                <a:solidFill>
                  <a:srgbClr val="2C3E50"/>
                </a:solidFill>
                <a:latin typeface="Calibri"/>
              </a:defRPr>
            </a:pPr>
            <a:r>
              <a:t>Retail sales, inflation, employment, GDP</a:t>
            </a:r>
          </a:p>
        </p:txBody>
      </p:sp>
      <p:sp>
        <p:nvSpPr>
          <p:cNvPr id="7" name="TextBox 6"/>
          <p:cNvSpPr txBox="1"/>
          <p:nvPr/>
        </p:nvSpPr>
        <p:spPr>
          <a:xfrm>
            <a:off x="914400" y="1737360"/>
            <a:ext cx="3200400" cy="320040"/>
          </a:xfrm>
          <a:prstGeom prst="rect">
            <a:avLst/>
          </a:prstGeom>
          <a:noFill/>
        </p:spPr>
        <p:txBody>
          <a:bodyPr wrap="square">
            <a:spAutoFit/>
          </a:bodyPr>
          <a:lstStyle/>
          <a:p>
            <a:pPr algn="l">
              <a:defRPr sz="1300" b="1">
                <a:solidFill>
                  <a:srgbClr val="142D5E"/>
                </a:solidFill>
                <a:latin typeface="Calibri"/>
              </a:defRPr>
            </a:pPr>
            <a:r>
              <a:t>British Retail Consortium (BRC)</a:t>
            </a:r>
          </a:p>
        </p:txBody>
      </p:sp>
      <p:sp>
        <p:nvSpPr>
          <p:cNvPr id="8" name="TextBox 7"/>
          <p:cNvSpPr txBox="1"/>
          <p:nvPr/>
        </p:nvSpPr>
        <p:spPr>
          <a:xfrm>
            <a:off x="4206240" y="1737360"/>
            <a:ext cx="6400800" cy="320040"/>
          </a:xfrm>
          <a:prstGeom prst="rect">
            <a:avLst/>
          </a:prstGeom>
          <a:noFill/>
        </p:spPr>
        <p:txBody>
          <a:bodyPr wrap="square">
            <a:spAutoFit/>
          </a:bodyPr>
          <a:lstStyle/>
          <a:p>
            <a:pPr algn="l">
              <a:defRPr sz="1300" b="0">
                <a:solidFill>
                  <a:srgbClr val="2C3E50"/>
                </a:solidFill>
                <a:latin typeface="Calibri"/>
              </a:defRPr>
            </a:pPr>
            <a:r>
              <a:t>Retail sales monitor, footfall data</a:t>
            </a:r>
          </a:p>
        </p:txBody>
      </p:sp>
      <p:sp>
        <p:nvSpPr>
          <p:cNvPr id="9" name="TextBox 8"/>
          <p:cNvSpPr txBox="1"/>
          <p:nvPr/>
        </p:nvSpPr>
        <p:spPr>
          <a:xfrm>
            <a:off x="914400" y="2103120"/>
            <a:ext cx="3200400" cy="320040"/>
          </a:xfrm>
          <a:prstGeom prst="rect">
            <a:avLst/>
          </a:prstGeom>
          <a:noFill/>
        </p:spPr>
        <p:txBody>
          <a:bodyPr wrap="square">
            <a:spAutoFit/>
          </a:bodyPr>
          <a:lstStyle/>
          <a:p>
            <a:pPr algn="l">
              <a:defRPr sz="1300" b="1">
                <a:solidFill>
                  <a:srgbClr val="142D5E"/>
                </a:solidFill>
                <a:latin typeface="Calibri"/>
              </a:defRPr>
            </a:pPr>
            <a:r>
              <a:t>GfK</a:t>
            </a:r>
          </a:p>
        </p:txBody>
      </p:sp>
      <p:sp>
        <p:nvSpPr>
          <p:cNvPr id="10" name="TextBox 9"/>
          <p:cNvSpPr txBox="1"/>
          <p:nvPr/>
        </p:nvSpPr>
        <p:spPr>
          <a:xfrm>
            <a:off x="4206240" y="2103120"/>
            <a:ext cx="6400800" cy="320040"/>
          </a:xfrm>
          <a:prstGeom prst="rect">
            <a:avLst/>
          </a:prstGeom>
          <a:noFill/>
        </p:spPr>
        <p:txBody>
          <a:bodyPr wrap="square">
            <a:spAutoFit/>
          </a:bodyPr>
          <a:lstStyle/>
          <a:p>
            <a:pPr algn="l">
              <a:defRPr sz="1300" b="0">
                <a:solidFill>
                  <a:srgbClr val="2C3E50"/>
                </a:solidFill>
                <a:latin typeface="Calibri"/>
              </a:defRPr>
            </a:pPr>
            <a:r>
              <a:t>Consumer confidence barometer</a:t>
            </a:r>
          </a:p>
        </p:txBody>
      </p:sp>
      <p:sp>
        <p:nvSpPr>
          <p:cNvPr id="11" name="TextBox 10"/>
          <p:cNvSpPr txBox="1"/>
          <p:nvPr/>
        </p:nvSpPr>
        <p:spPr>
          <a:xfrm>
            <a:off x="914400" y="2468879"/>
            <a:ext cx="3200400" cy="320040"/>
          </a:xfrm>
          <a:prstGeom prst="rect">
            <a:avLst/>
          </a:prstGeom>
          <a:noFill/>
        </p:spPr>
        <p:txBody>
          <a:bodyPr wrap="square">
            <a:spAutoFit/>
          </a:bodyPr>
          <a:lstStyle/>
          <a:p>
            <a:pPr algn="l">
              <a:defRPr sz="1300" b="1">
                <a:solidFill>
                  <a:srgbClr val="142D5E"/>
                </a:solidFill>
                <a:latin typeface="Calibri"/>
              </a:defRPr>
            </a:pPr>
            <a:r>
              <a:t>IMRG</a:t>
            </a:r>
          </a:p>
        </p:txBody>
      </p:sp>
      <p:sp>
        <p:nvSpPr>
          <p:cNvPr id="12" name="TextBox 11"/>
          <p:cNvSpPr txBox="1"/>
          <p:nvPr/>
        </p:nvSpPr>
        <p:spPr>
          <a:xfrm>
            <a:off x="4206240" y="2468879"/>
            <a:ext cx="6400800" cy="320040"/>
          </a:xfrm>
          <a:prstGeom prst="rect">
            <a:avLst/>
          </a:prstGeom>
          <a:noFill/>
        </p:spPr>
        <p:txBody>
          <a:bodyPr wrap="square">
            <a:spAutoFit/>
          </a:bodyPr>
          <a:lstStyle/>
          <a:p>
            <a:pPr algn="l">
              <a:defRPr sz="1300" b="0">
                <a:solidFill>
                  <a:srgbClr val="2C3E50"/>
                </a:solidFill>
                <a:latin typeface="Calibri"/>
              </a:defRPr>
            </a:pPr>
            <a:r>
              <a:t>Online retail index</a:t>
            </a:r>
          </a:p>
        </p:txBody>
      </p:sp>
      <p:sp>
        <p:nvSpPr>
          <p:cNvPr id="13" name="TextBox 12"/>
          <p:cNvSpPr txBox="1"/>
          <p:nvPr/>
        </p:nvSpPr>
        <p:spPr>
          <a:xfrm>
            <a:off x="914400" y="2834639"/>
            <a:ext cx="3200400" cy="320040"/>
          </a:xfrm>
          <a:prstGeom prst="rect">
            <a:avLst/>
          </a:prstGeom>
          <a:noFill/>
        </p:spPr>
        <p:txBody>
          <a:bodyPr wrap="square">
            <a:spAutoFit/>
          </a:bodyPr>
          <a:lstStyle/>
          <a:p>
            <a:pPr algn="l">
              <a:defRPr sz="1300" b="1">
                <a:solidFill>
                  <a:srgbClr val="142D5E"/>
                </a:solidFill>
                <a:latin typeface="Calibri"/>
              </a:defRPr>
            </a:pPr>
            <a:r>
              <a:t>Bank of England</a:t>
            </a:r>
          </a:p>
        </p:txBody>
      </p:sp>
      <p:sp>
        <p:nvSpPr>
          <p:cNvPr id="14" name="TextBox 13"/>
          <p:cNvSpPr txBox="1"/>
          <p:nvPr/>
        </p:nvSpPr>
        <p:spPr>
          <a:xfrm>
            <a:off x="4206240" y="2834639"/>
            <a:ext cx="6400800" cy="320040"/>
          </a:xfrm>
          <a:prstGeom prst="rect">
            <a:avLst/>
          </a:prstGeom>
          <a:noFill/>
        </p:spPr>
        <p:txBody>
          <a:bodyPr wrap="square">
            <a:spAutoFit/>
          </a:bodyPr>
          <a:lstStyle/>
          <a:p>
            <a:pPr algn="l">
              <a:defRPr sz="1300" b="0">
                <a:solidFill>
                  <a:srgbClr val="2C3E50"/>
                </a:solidFill>
                <a:latin typeface="Calibri"/>
              </a:defRPr>
            </a:pPr>
            <a:r>
              <a:t>Interest rates, credit data</a:t>
            </a:r>
          </a:p>
        </p:txBody>
      </p:sp>
      <p:sp>
        <p:nvSpPr>
          <p:cNvPr id="15" name="TextBox 14"/>
          <p:cNvSpPr txBox="1"/>
          <p:nvPr/>
        </p:nvSpPr>
        <p:spPr>
          <a:xfrm>
            <a:off x="914400" y="3200399"/>
            <a:ext cx="3200400" cy="320040"/>
          </a:xfrm>
          <a:prstGeom prst="rect">
            <a:avLst/>
          </a:prstGeom>
          <a:noFill/>
        </p:spPr>
        <p:txBody>
          <a:bodyPr wrap="square">
            <a:spAutoFit/>
          </a:bodyPr>
          <a:lstStyle/>
          <a:p>
            <a:pPr algn="l">
              <a:defRPr sz="1300" b="1">
                <a:solidFill>
                  <a:srgbClr val="142D5E"/>
                </a:solidFill>
                <a:latin typeface="Calibri"/>
              </a:defRPr>
            </a:pPr>
            <a:r>
              <a:t>London Stock Exchange / LSEG</a:t>
            </a:r>
          </a:p>
        </p:txBody>
      </p:sp>
      <p:sp>
        <p:nvSpPr>
          <p:cNvPr id="16" name="TextBox 15"/>
          <p:cNvSpPr txBox="1"/>
          <p:nvPr/>
        </p:nvSpPr>
        <p:spPr>
          <a:xfrm>
            <a:off x="4206240" y="3200399"/>
            <a:ext cx="6400800" cy="320040"/>
          </a:xfrm>
          <a:prstGeom prst="rect">
            <a:avLst/>
          </a:prstGeom>
          <a:noFill/>
        </p:spPr>
        <p:txBody>
          <a:bodyPr wrap="square">
            <a:spAutoFit/>
          </a:bodyPr>
          <a:lstStyle/>
          <a:p>
            <a:pPr algn="l">
              <a:defRPr sz="1300" b="0">
                <a:solidFill>
                  <a:srgbClr val="2C3E50"/>
                </a:solidFill>
                <a:latin typeface="Calibri"/>
              </a:defRPr>
            </a:pPr>
            <a:r>
              <a:t>Share prices, FTSE indices, analyst estimates</a:t>
            </a:r>
          </a:p>
        </p:txBody>
      </p:sp>
      <p:sp>
        <p:nvSpPr>
          <p:cNvPr id="17" name="Rectangle 16"/>
          <p:cNvSpPr/>
          <p:nvPr/>
        </p:nvSpPr>
        <p:spPr>
          <a:xfrm>
            <a:off x="731520" y="4114800"/>
            <a:ext cx="10698480" cy="36576"/>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89120"/>
            <a:ext cx="10515600" cy="1645920"/>
          </a:xfrm>
          <a:prstGeom prst="rect">
            <a:avLst/>
          </a:prstGeom>
          <a:noFill/>
        </p:spPr>
        <p:txBody>
          <a:bodyPr wrap="square">
            <a:spAutoFit/>
          </a:bodyPr>
          <a:lstStyle/>
          <a:p>
            <a:pPr algn="l">
              <a:defRPr sz="1100" b="0">
                <a:solidFill>
                  <a:srgbClr val="7F8C8D"/>
                </a:solidFill>
                <a:latin typeface="Calibri"/>
              </a:defRPr>
            </a:pPr>
            <a:r>
              <a:t>Disclaimer: This newsletter is produced for informational purposes only and does not constitute financial advice. All data is sourced from publicly available reports and may be subject to revision. Past performance is not indicative of future results. Readers should conduct their own research and consult a qualified financial adviser before making investment decisions.</a:t>
            </a:r>
          </a:p>
        </p:txBody>
      </p:sp>
      <p:sp>
        <p:nvSpPr>
          <p:cNvPr id="19" name="TextBox 18"/>
          <p:cNvSpPr txBox="1"/>
          <p:nvPr/>
        </p:nvSpPr>
        <p:spPr>
          <a:xfrm>
            <a:off x="731520" y="5760720"/>
            <a:ext cx="10515600" cy="457200"/>
          </a:xfrm>
          <a:prstGeom prst="rect">
            <a:avLst/>
          </a:prstGeom>
          <a:noFill/>
        </p:spPr>
        <p:txBody>
          <a:bodyPr wrap="square">
            <a:spAutoFit/>
          </a:bodyPr>
          <a:lstStyle/>
          <a:p>
            <a:pPr algn="ctr">
              <a:defRPr sz="1300" b="0">
                <a:solidFill>
                  <a:srgbClr val="142D5E"/>
                </a:solidFill>
                <a:latin typeface="Calibri"/>
              </a:defRPr>
            </a:pPr>
            <a:r>
              <a:t>Next Issue: April 2026  |  For feedback or data requests, contact the editorial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